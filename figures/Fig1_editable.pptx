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ee5d62f579e43ec" /><Relationship Type="http://schemas.openxmlformats.org/officeDocument/2006/relationships/extended-properties" Target="/docProps/app.xml" Id="R5c4e8003b65f4c09" /><Relationship Type="http://schemas.openxmlformats.org/officeDocument/2006/relationships/officeDocument" Target="/ppt/presentation.xml" Id="R18421a21f6bc4624" /></Relationships>
</file>

<file path=ppt/presentation.xml><?xml version="1.0" encoding="utf-8"?>
<p:presentation xmlns:p="http://schemas.openxmlformats.org/presentationml/2006/main">
  <p:sldMasterIdLst>
    <p:sldMasterId xmlns:r="http://schemas.openxmlformats.org/officeDocument/2006/relationships" id="2147483648" r:id="Rb1ba89dc92014c1c"/>
  </p:sldMasterIdLst>
  <p:notesMasterIdLst>
    <p:notesMasterId xmlns:r="http://schemas.openxmlformats.org/officeDocument/2006/relationships" r:id="Re5dae93136bf40e9"/>
  </p:notesMasterIdLst>
  <p:sldIdLst>
    <p:sldId xmlns:r="http://schemas.openxmlformats.org/officeDocument/2006/relationships" id="256" r:id="R8da46653a78747ca"/>
  </p:sldIdLst>
  <p:sldSz cx="15240000" cy="8953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6aeca403fc8493a" /><Relationship Type="http://schemas.openxmlformats.org/officeDocument/2006/relationships/slideMaster" Target="/ppt/slideMasters/slideMaster1.xml" Id="Rb1ba89dc92014c1c" /><Relationship Type="http://schemas.openxmlformats.org/officeDocument/2006/relationships/notesMaster" Target="/ppt/notesMasters/notesMaster1.xml" Id="Re5dae93136bf40e9" /><Relationship Type="http://schemas.openxmlformats.org/officeDocument/2006/relationships/presProps" Target="/ppt/presProps.xml" Id="R392c38d7917a4d7f" /><Relationship Type="http://schemas.openxmlformats.org/officeDocument/2006/relationships/tableStyles" Target="/ppt/tableStyles.xml" Id="R57d2e836c53041aa" /><Relationship Type="http://schemas.openxmlformats.org/officeDocument/2006/relationships/slide" Target="/ppt/slides/slide1.xml" Id="R8da46653a78747c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b76ab5d6c5b48e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46cf1df3eda4b66" /><Relationship Type="http://schemas.openxmlformats.org/officeDocument/2006/relationships/notesMaster" Target="/ppt/notesMasters/notesMaster1.xml" Id="Re147aa4a6443409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Overall architecture of horizon-calibrated finite-pool reference-set emulation. Original scientific diagram based on work/revision6/protocol.json, horizon.py and sequential.py. The trained classifier is frozen. Calibration/test participant IDs are disjoint from training and each other. The target batch supplies inputs and all class scores, never true labels, to the stopping rule. Label queries follow a uniform random permutation of a fixed reference pool. Offline DP boundaries depend only on pool size, reference rank, confidence error and declared checkpoints. At census the full reference quantile is known exactly. The guarantee preserves the reference predictor; it does not establish new 90-percent coverage under subject shift. True test labels are used only in subsequent evaluation and are intentionally outside this algorithm diagram. Native PowerPoint text, shapes and connectors are editable.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c6e28979e2043b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6a13fe75870462d" /><Relationship Type="http://schemas.openxmlformats.org/officeDocument/2006/relationships/slideLayout" Target="/ppt/slideLayouts/slideLayout1.xml" Id="R9bded1783b24454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bded1783b24454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800fcc996204a85" /><Relationship Type="http://schemas.openxmlformats.org/officeDocument/2006/relationships/notesSlide" Target="/ppt/notesSlides/notesSlide1.xml" Id="R7f561ac944c94b70"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4" name="Training participants">
            <a:extLst xmlns:a="http://schemas.openxmlformats.org/drawingml/2006/main">
              <a:ext uri="{FF2B5EF4-FFF2-40B4-BE49-F238E27FC236}">
                <a16:creationId xmlns:a16="http://schemas.microsoft.com/office/drawing/2014/main" id="{4F779956-6D84-4040-836E-07C865F2DB30}"/>
              </a:ext>
            </a:extLst>
          </p:cNvPr>
          <p:cNvSpPr>
            <a:spLocks xmlns:a="http://schemas.openxmlformats.org/drawingml/2006/main" noGrp="1"/>
          </p:cNvSpPr>
          <p:nvPr/>
        </p:nvSpPr>
        <p:spPr>
          <a:xfrm xmlns:a="http://schemas.openxmlformats.org/drawingml/2006/main">
            <a:off x="381000" y="333375"/>
            <a:ext cx="3333750" cy="1143000"/>
          </a:xfrm>
          <a:prstGeom xmlns:a="http://schemas.openxmlformats.org/drawingml/2006/main" prst="rect">
            <a:avLst/>
          </a:prstGeom>
          <a:solidFill xmlns:a="http://schemas.openxmlformats.org/drawingml/2006/main">
            <a:srgbClr val="EFF5FA"/>
          </a:solidFill>
          <a:ln xmlns:a="http://schemas.openxmlformats.org/drawingml/2006/main" w="19050">
            <a:solidFill>
              <a:srgbClr val="255E8D"/>
            </a:solidFill>
          </a:ln>
        </p:spPr>
        <p:txBody>
          <a:bodyPr xmlns:a="http://schemas.openxmlformats.org/drawingml/2006/main" lIns="114300" tIns="76200" rIns="114300" bIns="76200" anchor="ctr">
            <a:noAutofit/>
          </a:bodyPr>
          <a:lstStyle xmlns:a="http://schemas.openxmlformats.org/drawingml/2006/main"/>
          <a:p xmlns:a="http://schemas.openxmlformats.org/drawingml/2006/main">
            <a:pPr algn="ctr">
              <a:defRPr sz="2325">
                <a:solidFill>
                  <a:srgbClr val="1B2D3B"/>
                </a:solidFill>
                <a:latin typeface="Arial"/>
                <a:ea typeface="Arial"/>
                <a:cs typeface="Arial"/>
              </a:defRPr>
            </a:pPr>
            <a:r>
              <a:rPr sz="2325">
                <a:solidFill>
                  <a:srgbClr val="1B2D3B"/>
                </a:solidFill>
                <a:latin typeface="Arial"/>
                <a:ea typeface="Arial"/>
                <a:cs typeface="Arial"/>
              </a:rPr>
              <a:t>Training participants</a:t>
            </a:r>
          </a:p>
          <a:p xmlns:a="http://schemas.openxmlformats.org/drawingml/2006/main">
            <a:pPr algn="ctr">
              <a:defRPr sz="2325">
                <a:solidFill>
                  <a:srgbClr val="1B2D3B"/>
                </a:solidFill>
                <a:latin typeface="Arial"/>
                <a:ea typeface="Arial"/>
                <a:cs typeface="Arial"/>
              </a:defRPr>
            </a:pPr>
            <a:r>
              <a:rPr sz="2325">
                <a:solidFill>
                  <a:srgbClr val="1B2D3B"/>
                </a:solidFill>
                <a:latin typeface="Arial"/>
                <a:ea typeface="Arial"/>
                <a:cs typeface="Arial"/>
              </a:rPr>
              <a:t>Signals and labels</a:t>
            </a:r>
          </a:p>
        </p:txBody>
      </p:sp>
      <p:sp>
        <p:nvSpPr>
          <p:cNvPr id="2" name="Frozen recognition model">
            <a:extLst xmlns:a="http://schemas.openxmlformats.org/drawingml/2006/main">
              <a:ext uri="{FF2B5EF4-FFF2-40B4-BE49-F238E27FC236}">
                <a16:creationId xmlns:a16="http://schemas.microsoft.com/office/drawing/2014/main" id="{C528E313-4194-4EC3-967C-FA7B733681F3}"/>
              </a:ext>
            </a:extLst>
          </p:cNvPr>
          <p:cNvSpPr>
            <a:spLocks xmlns:a="http://schemas.openxmlformats.org/drawingml/2006/main" noGrp="1"/>
          </p:cNvSpPr>
          <p:nvPr/>
        </p:nvSpPr>
        <p:spPr>
          <a:xfrm xmlns:a="http://schemas.openxmlformats.org/drawingml/2006/main">
            <a:off x="4476750" y="333375"/>
            <a:ext cx="2857500" cy="1143000"/>
          </a:xfrm>
          <a:prstGeom xmlns:a="http://schemas.openxmlformats.org/drawingml/2006/main" prst="rect">
            <a:avLst/>
          </a:prstGeom>
          <a:solidFill xmlns:a="http://schemas.openxmlformats.org/drawingml/2006/main">
            <a:srgbClr val="EFF5FA"/>
          </a:solidFill>
          <a:ln xmlns:a="http://schemas.openxmlformats.org/drawingml/2006/main" w="19050">
            <a:solidFill>
              <a:srgbClr val="255E8D"/>
            </a:solidFill>
          </a:ln>
        </p:spPr>
        <p:txBody>
          <a:bodyPr xmlns:a="http://schemas.openxmlformats.org/drawingml/2006/main" lIns="114300" tIns="76200" rIns="114300" bIns="76200" anchor="ctr">
            <a:noAutofit/>
          </a:bodyPr>
          <a:lstStyle xmlns:a="http://schemas.openxmlformats.org/drawingml/2006/main"/>
          <a:p xmlns:a="http://schemas.openxmlformats.org/drawingml/2006/main">
            <a:pPr algn="ctr">
              <a:defRPr sz="2325">
                <a:solidFill>
                  <a:srgbClr val="1B2D3B"/>
                </a:solidFill>
                <a:latin typeface="Arial"/>
                <a:ea typeface="Arial"/>
                <a:cs typeface="Arial"/>
              </a:defRPr>
            </a:pPr>
            <a:r>
              <a:rPr sz="2325">
                <a:solidFill>
                  <a:srgbClr val="1B2D3B"/>
                </a:solidFill>
                <a:latin typeface="Arial"/>
                <a:ea typeface="Arial"/>
                <a:cs typeface="Arial"/>
              </a:rPr>
              <a:t>Frozen classifier f</a:t>
            </a:r>
          </a:p>
          <a:p xmlns:a="http://schemas.openxmlformats.org/drawingml/2006/main">
            <a:pPr algn="ctr">
              <a:defRPr sz="2325">
                <a:solidFill>
                  <a:srgbClr val="1B2D3B"/>
                </a:solidFill>
                <a:latin typeface="Arial"/>
                <a:ea typeface="Arial"/>
                <a:cs typeface="Arial"/>
              </a:defRPr>
            </a:pPr>
            <a:r>
              <a:rPr sz="2325">
                <a:solidFill>
                  <a:srgbClr val="1B2D3B"/>
                </a:solidFill>
                <a:latin typeface="Arial"/>
                <a:ea typeface="Arial"/>
                <a:cs typeface="Arial"/>
              </a:rPr>
              <a:t>LR / MiniRocket / IT</a:t>
            </a:r>
          </a:p>
        </p:txBody>
      </p:sp>
      <p:sp>
        <p:nvSpPr>
          <p:cNvPr id="3" name="Unlabeled target batch">
            <a:extLst xmlns:a="http://schemas.openxmlformats.org/drawingml/2006/main">
              <a:ext uri="{FF2B5EF4-FFF2-40B4-BE49-F238E27FC236}">
                <a16:creationId xmlns:a16="http://schemas.microsoft.com/office/drawing/2014/main" id="{5CB537F4-C7BC-4E3C-B91F-CE18CED16A20}"/>
              </a:ext>
            </a:extLst>
          </p:cNvPr>
          <p:cNvSpPr>
            <a:spLocks xmlns:a="http://schemas.openxmlformats.org/drawingml/2006/main" noGrp="1"/>
          </p:cNvSpPr>
          <p:nvPr/>
        </p:nvSpPr>
        <p:spPr>
          <a:xfrm xmlns:a="http://schemas.openxmlformats.org/drawingml/2006/main">
            <a:off x="8286750" y="333375"/>
            <a:ext cx="6572250" cy="1143000"/>
          </a:xfrm>
          <a:prstGeom xmlns:a="http://schemas.openxmlformats.org/drawingml/2006/main" prst="rect">
            <a:avLst/>
          </a:prstGeom>
          <a:solidFill xmlns:a="http://schemas.openxmlformats.org/drawingml/2006/main">
            <a:srgbClr val="EFF5FA"/>
          </a:solidFill>
          <a:ln xmlns:a="http://schemas.openxmlformats.org/drawingml/2006/main" w="19050">
            <a:solidFill>
              <a:srgbClr val="255E8D"/>
            </a:solidFill>
          </a:ln>
        </p:spPr>
        <p:txBody>
          <a:bodyPr xmlns:a="http://schemas.openxmlformats.org/drawingml/2006/main" lIns="114300" tIns="76200" rIns="114300" bIns="76200" anchor="ctr">
            <a:noAutofit/>
          </a:bodyPr>
          <a:lstStyle xmlns:a="http://schemas.openxmlformats.org/drawingml/2006/main"/>
          <a:p xmlns:a="http://schemas.openxmlformats.org/drawingml/2006/main">
            <a:pPr algn="ctr">
              <a:defRPr sz="2325">
                <a:solidFill>
                  <a:srgbClr val="1B2D3B"/>
                </a:solidFill>
                <a:latin typeface="Arial"/>
                <a:ea typeface="Arial"/>
                <a:cs typeface="Arial"/>
              </a:defRPr>
            </a:pPr>
            <a:r>
              <a:rPr sz="2325">
                <a:solidFill>
                  <a:srgbClr val="1B2D3B"/>
                </a:solidFill>
                <a:latin typeface="Arial"/>
                <a:ea typeface="Arial"/>
                <a:cs typeface="Arial"/>
              </a:rPr>
              <a:t>Target batch: inputs only</a:t>
            </a:r>
          </a:p>
          <a:p xmlns:a="http://schemas.openxmlformats.org/drawingml/2006/main">
            <a:pPr algn="ctr">
              <a:defRPr sz="2325">
                <a:solidFill>
                  <a:srgbClr val="1B2D3B"/>
                </a:solidFill>
                <a:latin typeface="Arial"/>
                <a:ea typeface="Arial"/>
                <a:cs typeface="Arial"/>
              </a:defRPr>
            </a:pPr>
            <a:r>
              <a:rPr sz="2325">
                <a:solidFill>
                  <a:srgbClr val="1B2D3B"/>
                </a:solidFill>
                <a:latin typeface="Arial"/>
                <a:ea typeface="Arial"/>
                <a:cs typeface="Arial"/>
              </a:rPr>
              <a:t>All candidate-label scores s(x,y)</a:t>
            </a:r>
          </a:p>
        </p:txBody>
      </p:sp>
      <p:cxnSp>
        <p:nvCxnSpPr>
          <p:cNvPr id="57" name=""/>
          <p:cNvCxnSpPr>
            <a:stCxn xmlns:a="http://schemas.openxmlformats.org/drawingml/2006/main" id="1" idx="3"/>
            <a:endCxn xmlns:a="http://schemas.openxmlformats.org/drawingml/2006/main" id="2" idx="1"/>
          </p:cNvCxnSpPr>
          <p:nvPr/>
        </p:nvCxnSpPr>
        <p:spPr>
          <a:xfrm xmlns:a="http://schemas.openxmlformats.org/drawingml/2006/main">
            <a:off x="3714750" y="904875"/>
            <a:ext cx="762000" cy="0"/>
          </a:xfrm>
          <a:prstGeom xmlns:a="http://schemas.openxmlformats.org/drawingml/2006/main" prst="straightConnector1">
            <a:avLst/>
          </a:prstGeom>
          <a:ln xmlns:a="http://schemas.openxmlformats.org/drawingml/2006/main" w="22860">
            <a:solidFill>
              <a:srgbClr val="255E8D"/>
            </a:solidFill>
            <a:prstDash val="solid"/>
            <a:tailEnd type="triangle" w="med" len="med"/>
          </a:ln>
        </p:spPr>
      </p:cxnSp>
      <p:cxnSp>
        <p:nvCxnSpPr>
          <p:cNvPr id="58" name=""/>
          <p:cNvCxnSpPr>
            <a:stCxn xmlns:a="http://schemas.openxmlformats.org/drawingml/2006/main" id="2" idx="3"/>
            <a:endCxn xmlns:a="http://schemas.openxmlformats.org/drawingml/2006/main" id="3" idx="1"/>
          </p:cNvCxnSpPr>
          <p:nvPr/>
        </p:nvCxnSpPr>
        <p:spPr>
          <a:xfrm xmlns:a="http://schemas.openxmlformats.org/drawingml/2006/main">
            <a:off x="7334250" y="904875"/>
            <a:ext cx="952500" cy="0"/>
          </a:xfrm>
          <a:prstGeom xmlns:a="http://schemas.openxmlformats.org/drawingml/2006/main" prst="straightConnector1">
            <a:avLst/>
          </a:prstGeom>
          <a:ln xmlns:a="http://schemas.openxmlformats.org/drawingml/2006/main" w="22860">
            <a:solidFill>
              <a:srgbClr val="255E8D"/>
            </a:solidFill>
            <a:prstDash val="solid"/>
            <a:tailEnd type="triangle" w="med" len="med"/>
          </a:ln>
        </p:spPr>
      </p:cxnSp>
      <p:sp>
        <p:nvSpPr>
          <p:cNvPr id="6" name="Finite calibration pool">
            <a:extLst xmlns:a="http://schemas.openxmlformats.org/drawingml/2006/main">
              <a:ext uri="{FF2B5EF4-FFF2-40B4-BE49-F238E27FC236}">
                <a16:creationId xmlns:a16="http://schemas.microsoft.com/office/drawing/2014/main" id="{6B657D0F-828B-4C4D-ACF8-EE7B2C32A674}"/>
              </a:ext>
            </a:extLst>
          </p:cNvPr>
          <p:cNvSpPr>
            <a:spLocks xmlns:a="http://schemas.openxmlformats.org/drawingml/2006/main" noGrp="1"/>
          </p:cNvSpPr>
          <p:nvPr/>
        </p:nvSpPr>
        <p:spPr>
          <a:xfrm xmlns:a="http://schemas.openxmlformats.org/drawingml/2006/main">
            <a:off x="381000" y="2667000"/>
            <a:ext cx="3333750" cy="1619250"/>
          </a:xfrm>
          <a:prstGeom xmlns:a="http://schemas.openxmlformats.org/drawingml/2006/main" prst="rect">
            <a:avLst/>
          </a:prstGeom>
          <a:solidFill xmlns:a="http://schemas.openxmlformats.org/drawingml/2006/main">
            <a:srgbClr val="FBF5E9"/>
          </a:solidFill>
          <a:ln xmlns:a="http://schemas.openxmlformats.org/drawingml/2006/main" w="19050">
            <a:solidFill>
              <a:srgbClr val="8D580C"/>
            </a:solidFill>
          </a:ln>
        </p:spPr>
        <p:txBody>
          <a:bodyPr xmlns:a="http://schemas.openxmlformats.org/drawingml/2006/main" lIns="114300" tIns="76200" rIns="114300" bIns="76200" anchor="ctr">
            <a:noAutofit/>
          </a:bodyPr>
          <a:lstStyle xmlns:a="http://schemas.openxmlformats.org/drawingml/2006/main"/>
          <a:p xmlns:a="http://schemas.openxmlformats.org/drawingml/2006/main">
            <a:pPr algn="ctr">
              <a:defRPr sz="2175">
                <a:solidFill>
                  <a:srgbClr val="1B2D3B"/>
                </a:solidFill>
                <a:latin typeface="Arial"/>
                <a:ea typeface="Arial"/>
                <a:cs typeface="Arial"/>
              </a:defRPr>
            </a:pPr>
            <a:r>
              <a:rPr sz="2175">
                <a:solidFill>
                  <a:srgbClr val="1B2D3B"/>
                </a:solidFill>
                <a:latin typeface="Arial"/>
                <a:ea typeface="Arial"/>
                <a:cs typeface="Arial"/>
              </a:rPr>
              <a:t>Fixed pool: N windows</a:t>
            </a:r>
          </a:p>
          <a:p xmlns:a="http://schemas.openxmlformats.org/drawingml/2006/main">
            <a:pPr algn="ctr">
              <a:defRPr sz="2175">
                <a:solidFill>
                  <a:srgbClr val="1B2D3B"/>
                </a:solidFill>
                <a:latin typeface="Arial"/>
                <a:ea typeface="Arial"/>
                <a:cs typeface="Arial"/>
              </a:defRPr>
            </a:pPr>
            <a:r>
              <a:rPr sz="2175">
                <a:solidFill>
                  <a:srgbClr val="1B2D3B"/>
                </a:solidFill>
                <a:latin typeface="Arial"/>
                <a:ea typeface="Arial"/>
                <a:cs typeface="Arial"/>
              </a:rPr>
              <a:t>Hidden labels</a:t>
            </a:r>
          </a:p>
          <a:p xmlns:a="http://schemas.openxmlformats.org/drawingml/2006/main">
            <a:pPr algn="ctr">
              <a:defRPr sz="2175">
                <a:solidFill>
                  <a:srgbClr val="1B2D3B"/>
                </a:solidFill>
                <a:latin typeface="Arial"/>
                <a:ea typeface="Arial"/>
                <a:cs typeface="Arial"/>
              </a:defRPr>
            </a:pPr>
            <a:r>
              <a:rPr sz="2175">
                <a:solidFill>
                  <a:srgbClr val="1B2D3B"/>
                </a:solidFill>
                <a:latin typeface="Arial"/>
                <a:ea typeface="Arial"/>
                <a:cs typeface="Arial"/>
              </a:rPr>
              <a:t>Uniform query order</a:t>
            </a:r>
          </a:p>
        </p:txBody>
      </p:sp>
      <p:sp>
        <p:nvSpPr>
          <p:cNvPr id="7" name="Query next labels">
            <a:extLst xmlns:a="http://schemas.openxmlformats.org/drawingml/2006/main">
              <a:ext uri="{FF2B5EF4-FFF2-40B4-BE49-F238E27FC236}">
                <a16:creationId xmlns:a16="http://schemas.microsoft.com/office/drawing/2014/main" id="{6C2F6EBB-728C-411D-AD09-8A7B1082341E}"/>
              </a:ext>
            </a:extLst>
          </p:cNvPr>
          <p:cNvSpPr>
            <a:spLocks xmlns:a="http://schemas.openxmlformats.org/drawingml/2006/main" noGrp="1"/>
          </p:cNvSpPr>
          <p:nvPr/>
        </p:nvSpPr>
        <p:spPr>
          <a:xfrm xmlns:a="http://schemas.openxmlformats.org/drawingml/2006/main">
            <a:off x="4476750" y="2667000"/>
            <a:ext cx="2857500" cy="1619250"/>
          </a:xfrm>
          <a:prstGeom xmlns:a="http://schemas.openxmlformats.org/drawingml/2006/main" prst="rect">
            <a:avLst/>
          </a:prstGeom>
          <a:solidFill xmlns:a="http://schemas.openxmlformats.org/drawingml/2006/main">
            <a:srgbClr val="FBF5E9"/>
          </a:solidFill>
          <a:ln xmlns:a="http://schemas.openxmlformats.org/drawingml/2006/main" w="19050">
            <a:solidFill>
              <a:srgbClr val="8D580C"/>
            </a:solidFill>
          </a:ln>
        </p:spPr>
        <p:txBody>
          <a:bodyPr xmlns:a="http://schemas.openxmlformats.org/drawingml/2006/main" lIns="114300" tIns="76200" rIns="114300" bIns="76200" anchor="ctr">
            <a:noAutofit/>
          </a:bodyPr>
          <a:lstStyle xmlns:a="http://schemas.openxmlformats.org/drawingml/2006/main"/>
          <a:p xmlns:a="http://schemas.openxmlformats.org/drawingml/2006/main">
            <a:pPr algn="ctr">
              <a:defRPr sz="2175">
                <a:solidFill>
                  <a:srgbClr val="1B2D3B"/>
                </a:solidFill>
                <a:latin typeface="Arial"/>
                <a:ea typeface="Arial"/>
                <a:cs typeface="Arial"/>
              </a:defRPr>
            </a:pPr>
            <a:r>
              <a:rPr sz="2175">
                <a:solidFill>
                  <a:srgbClr val="1B2D3B"/>
                </a:solidFill>
                <a:latin typeface="Arial"/>
                <a:ea typeface="Arial"/>
                <a:cs typeface="Arial"/>
              </a:rPr>
              <a:t>Query 20 labels</a:t>
            </a:r>
          </a:p>
          <a:p xmlns:a="http://schemas.openxmlformats.org/drawingml/2006/main">
            <a:pPr algn="ctr">
              <a:defRPr sz="2175">
                <a:solidFill>
                  <a:srgbClr val="1B2D3B"/>
                </a:solidFill>
                <a:latin typeface="Arial"/>
                <a:ea typeface="Arial"/>
                <a:cs typeface="Arial"/>
              </a:defRPr>
            </a:pPr>
            <a:r>
              <a:rPr sz="2175">
                <a:solidFill>
                  <a:srgbClr val="1B2D3B"/>
                </a:solidFill>
                <a:latin typeface="Arial"/>
                <a:ea typeface="Arial"/>
                <a:cs typeface="Arial"/>
              </a:rPr>
              <a:t>True-label scores</a:t>
            </a:r>
          </a:p>
          <a:p xmlns:a="http://schemas.openxmlformats.org/drawingml/2006/main">
            <a:pPr algn="ctr">
              <a:defRPr sz="2175">
                <a:solidFill>
                  <a:srgbClr val="1B2D3B"/>
                </a:solidFill>
                <a:latin typeface="Arial"/>
                <a:ea typeface="Arial"/>
                <a:cs typeface="Arial"/>
              </a:defRPr>
            </a:pPr>
            <a:r>
              <a:rPr sz="2175">
                <a:solidFill>
                  <a:srgbClr val="1B2D3B"/>
                </a:solidFill>
                <a:latin typeface="Arial"/>
                <a:ea typeface="Arial"/>
                <a:cs typeface="Arial"/>
              </a:rPr>
              <a:t>Sort observed prefix</a:t>
            </a:r>
          </a:p>
        </p:txBody>
      </p:sp>
      <p:sp>
        <p:nvSpPr>
          <p:cNvPr id="8" name="Quantile interval">
            <a:extLst xmlns:a="http://schemas.openxmlformats.org/drawingml/2006/main">
              <a:ext uri="{FF2B5EF4-FFF2-40B4-BE49-F238E27FC236}">
                <a16:creationId xmlns:a16="http://schemas.microsoft.com/office/drawing/2014/main" id="{139EE879-CA82-4B4E-9A54-61EF74B97091}"/>
              </a:ext>
            </a:extLst>
          </p:cNvPr>
          <p:cNvSpPr>
            <a:spLocks xmlns:a="http://schemas.openxmlformats.org/drawingml/2006/main" noGrp="1"/>
          </p:cNvSpPr>
          <p:nvPr/>
        </p:nvSpPr>
        <p:spPr>
          <a:xfrm xmlns:a="http://schemas.openxmlformats.org/drawingml/2006/main">
            <a:off x="8286750" y="2667000"/>
            <a:ext cx="3048000" cy="1619250"/>
          </a:xfrm>
          <a:prstGeom xmlns:a="http://schemas.openxmlformats.org/drawingml/2006/main" prst="rect">
            <a:avLst/>
          </a:prstGeom>
          <a:solidFill xmlns:a="http://schemas.openxmlformats.org/drawingml/2006/main">
            <a:srgbClr val="EDF6F3"/>
          </a:solidFill>
          <a:ln xmlns:a="http://schemas.openxmlformats.org/drawingml/2006/main" w="19050">
            <a:solidFill>
              <a:srgbClr val="13756C"/>
            </a:solidFill>
          </a:ln>
        </p:spPr>
        <p:txBody>
          <a:bodyPr xmlns:a="http://schemas.openxmlformats.org/drawingml/2006/main" lIns="114300" tIns="76200" rIns="114300" bIns="76200" anchor="ctr">
            <a:noAutofit/>
          </a:bodyPr>
          <a:lstStyle xmlns:a="http://schemas.openxmlformats.org/drawingml/2006/main"/>
          <a:p xmlns:a="http://schemas.openxmlformats.org/drawingml/2006/main">
            <a:pPr algn="ctr">
              <a:defRPr sz="2175">
                <a:solidFill>
                  <a:srgbClr val="1B2D3B"/>
                </a:solidFill>
                <a:latin typeface="Arial"/>
                <a:ea typeface="Arial"/>
                <a:cs typeface="Arial"/>
              </a:defRPr>
            </a:pPr>
            <a:r>
              <a:rPr sz="2175">
                <a:solidFill>
                  <a:srgbClr val="1B2D3B"/>
                </a:solidFill>
                <a:latin typeface="Arial"/>
                <a:ea typeface="Arial"/>
                <a:cs typeface="Arial"/>
              </a:rPr>
              <a:t>Quantile bracket</a:t>
            </a:r>
          </a:p>
          <a:p xmlns:a="http://schemas.openxmlformats.org/drawingml/2006/main">
            <a:pPr algn="ctr">
              <a:defRPr sz="2175">
                <a:solidFill>
                  <a:srgbClr val="1B2D3B"/>
                </a:solidFill>
                <a:latin typeface="Arial"/>
                <a:ea typeface="Arial"/>
                <a:cs typeface="Arial"/>
              </a:defRPr>
            </a:pPr>
            <a:r>
              <a:rPr sz="2175">
                <a:solidFill>
                  <a:srgbClr val="1B2D3B"/>
                </a:solidFill>
                <a:latin typeface="Arial"/>
                <a:ea typeface="Arial"/>
                <a:cs typeface="Arial"/>
              </a:rPr>
              <a:t>[Lₜ, Uₜ]</a:t>
            </a:r>
          </a:p>
          <a:p xmlns:a="http://schemas.openxmlformats.org/drawingml/2006/main">
            <a:pPr algn="ctr">
              <a:defRPr sz="2175">
                <a:solidFill>
                  <a:srgbClr val="1B2D3B"/>
                </a:solidFill>
                <a:latin typeface="Arial"/>
                <a:ea typeface="Arial"/>
                <a:cs typeface="Arial"/>
              </a:defRPr>
            </a:pPr>
            <a:r>
              <a:rPr sz="2175">
                <a:solidFill>
                  <a:srgbClr val="1B2D3B"/>
                </a:solidFill>
                <a:latin typeface="Arial"/>
                <a:ea typeface="Arial"/>
                <a:cs typeface="Arial"/>
              </a:rPr>
              <a:t>Running intersection</a:t>
            </a:r>
          </a:p>
        </p:txBody>
      </p:sp>
      <p:sp>
        <p:nvSpPr>
          <p:cNvPr id="9" name="Return prediction sets">
            <a:extLst xmlns:a="http://schemas.openxmlformats.org/drawingml/2006/main">
              <a:ext uri="{FF2B5EF4-FFF2-40B4-BE49-F238E27FC236}">
                <a16:creationId xmlns:a16="http://schemas.microsoft.com/office/drawing/2014/main" id="{DB0E1D32-03FB-4910-9EEC-191B05D9F064}"/>
              </a:ext>
            </a:extLst>
          </p:cNvPr>
          <p:cNvSpPr>
            <a:spLocks xmlns:a="http://schemas.openxmlformats.org/drawingml/2006/main" noGrp="1"/>
          </p:cNvSpPr>
          <p:nvPr/>
        </p:nvSpPr>
        <p:spPr>
          <a:xfrm xmlns:a="http://schemas.openxmlformats.org/drawingml/2006/main">
            <a:off x="12096750" y="2667000"/>
            <a:ext cx="2762250" cy="1619250"/>
          </a:xfrm>
          <a:prstGeom xmlns:a="http://schemas.openxmlformats.org/drawingml/2006/main" prst="rect">
            <a:avLst/>
          </a:prstGeom>
          <a:solidFill xmlns:a="http://schemas.openxmlformats.org/drawingml/2006/main">
            <a:srgbClr val="EDF6F3"/>
          </a:solidFill>
          <a:ln xmlns:a="http://schemas.openxmlformats.org/drawingml/2006/main" w="19050">
            <a:solidFill>
              <a:srgbClr val="13756C"/>
            </a:solidFill>
          </a:ln>
        </p:spPr>
        <p:txBody>
          <a:bodyPr xmlns:a="http://schemas.openxmlformats.org/drawingml/2006/main" lIns="114300" tIns="76200" rIns="114300" bIns="76200" anchor="ctr">
            <a:noAutofit/>
          </a:bodyPr>
          <a:lstStyle xmlns:a="http://schemas.openxmlformats.org/drawingml/2006/main"/>
          <a:p xmlns:a="http://schemas.openxmlformats.org/drawingml/2006/main">
            <a:pPr algn="ctr">
              <a:defRPr sz="2325">
                <a:solidFill>
                  <a:srgbClr val="1B2D3B"/>
                </a:solidFill>
                <a:latin typeface="Arial"/>
                <a:ea typeface="Arial"/>
                <a:cs typeface="Arial"/>
              </a:defRPr>
            </a:pPr>
            <a:r>
              <a:rPr sz="2325">
                <a:solidFill>
                  <a:srgbClr val="1B2D3B"/>
                </a:solidFill>
                <a:latin typeface="Arial"/>
                <a:ea typeface="Arial"/>
                <a:cs typeface="Arial"/>
              </a:rPr>
              <a:t>Return C(x; Uₜ)</a:t>
            </a:r>
          </a:p>
          <a:p xmlns:a="http://schemas.openxmlformats.org/drawingml/2006/main">
            <a:pPr algn="ctr">
              <a:defRPr sz="2325">
                <a:solidFill>
                  <a:srgbClr val="1B2D3B"/>
                </a:solidFill>
                <a:latin typeface="Arial"/>
                <a:ea typeface="Arial"/>
                <a:cs typeface="Arial"/>
              </a:defRPr>
            </a:pPr>
            <a:r>
              <a:rPr sz="2325">
                <a:solidFill>
                  <a:srgbClr val="1B2D3B"/>
                </a:solidFill>
                <a:latin typeface="Arial"/>
                <a:ea typeface="Arial"/>
                <a:cs typeface="Arial"/>
              </a:rPr>
              <a:t>Stop querying labels</a:t>
            </a:r>
          </a:p>
        </p:txBody>
      </p:sp>
      <p:cxnSp>
        <p:nvCxnSpPr>
          <p:cNvPr id="63" name=""/>
          <p:cNvCxnSpPr>
            <a:stCxn xmlns:a="http://schemas.openxmlformats.org/drawingml/2006/main" id="6" idx="3"/>
            <a:endCxn xmlns:a="http://schemas.openxmlformats.org/drawingml/2006/main" id="7" idx="1"/>
          </p:cNvCxnSpPr>
          <p:nvPr/>
        </p:nvCxnSpPr>
        <p:spPr>
          <a:xfrm xmlns:a="http://schemas.openxmlformats.org/drawingml/2006/main">
            <a:off x="3714750" y="3476625"/>
            <a:ext cx="762000" cy="0"/>
          </a:xfrm>
          <a:prstGeom xmlns:a="http://schemas.openxmlformats.org/drawingml/2006/main" prst="straightConnector1">
            <a:avLst/>
          </a:prstGeom>
          <a:ln xmlns:a="http://schemas.openxmlformats.org/drawingml/2006/main" w="22860">
            <a:solidFill>
              <a:srgbClr val="1B2D3B"/>
            </a:solidFill>
            <a:prstDash val="solid"/>
            <a:tailEnd type="triangle" w="med" len="med"/>
          </a:ln>
        </p:spPr>
      </p:cxnSp>
      <p:cxnSp>
        <p:nvCxnSpPr>
          <p:cNvPr id="64" name=""/>
          <p:cNvCxnSpPr>
            <a:stCxn xmlns:a="http://schemas.openxmlformats.org/drawingml/2006/main" id="7" idx="3"/>
            <a:endCxn xmlns:a="http://schemas.openxmlformats.org/drawingml/2006/main" id="8" idx="1"/>
          </p:cNvCxnSpPr>
          <p:nvPr/>
        </p:nvCxnSpPr>
        <p:spPr>
          <a:xfrm xmlns:a="http://schemas.openxmlformats.org/drawingml/2006/main">
            <a:off x="7334250" y="3476625"/>
            <a:ext cx="952500" cy="0"/>
          </a:xfrm>
          <a:prstGeom xmlns:a="http://schemas.openxmlformats.org/drawingml/2006/main" prst="straightConnector1">
            <a:avLst/>
          </a:prstGeom>
          <a:ln xmlns:a="http://schemas.openxmlformats.org/drawingml/2006/main" w="22860">
            <a:solidFill>
              <a:srgbClr val="1B2D3B"/>
            </a:solidFill>
            <a:prstDash val="solid"/>
            <a:tailEnd type="triangle" w="med" len="med"/>
          </a:ln>
        </p:spPr>
      </p:cxnSp>
      <p:sp>
        <p:nvSpPr>
          <p:cNvPr id="12" name="Connector anchor 1">
            <a:extLst xmlns:a="http://schemas.openxmlformats.org/drawingml/2006/main">
              <a:ext uri="{FF2B5EF4-FFF2-40B4-BE49-F238E27FC236}">
                <a16:creationId xmlns:a16="http://schemas.microsoft.com/office/drawing/2014/main" id="{6DD706D0-A5E5-435C-82C0-F2689F61FA9C}"/>
              </a:ext>
            </a:extLst>
          </p:cNvPr>
          <p:cNvSpPr>
            <a:spLocks xmlns:a="http://schemas.openxmlformats.org/drawingml/2006/main" noGrp="1"/>
          </p:cNvSpPr>
          <p:nvPr/>
        </p:nvSpPr>
        <p:spPr>
          <a:xfrm xmlns:a="http://schemas.openxmlformats.org/drawingml/2006/main">
            <a:off x="5895975" y="1943100"/>
            <a:ext cx="19050" cy="19050"/>
          </a:xfrm>
          <a:prstGeom xmlns:a="http://schemas.openxmlformats.org/drawingml/2006/main" prst="rect">
            <a:avLst/>
          </a:prstGeom>
          <a:noFill xmlns:a="http://schemas.openxmlformats.org/drawingml/2006/main"/>
          <a:ln xmlns:a="http://schemas.openxmlformats.org/drawingml/2006/main" w="0">
            <a:noFill/>
          </a:ln>
        </p:spPr>
      </p:sp>
      <p:sp>
        <p:nvSpPr>
          <p:cNvPr id="13" name="Connector anchor 2">
            <a:extLst xmlns:a="http://schemas.openxmlformats.org/drawingml/2006/main">
              <a:ext uri="{FF2B5EF4-FFF2-40B4-BE49-F238E27FC236}">
                <a16:creationId xmlns:a16="http://schemas.microsoft.com/office/drawing/2014/main" id="{BDC051AD-0CC4-49E2-8C3C-3644EEF41343}"/>
              </a:ext>
            </a:extLst>
          </p:cNvPr>
          <p:cNvSpPr>
            <a:spLocks xmlns:a="http://schemas.openxmlformats.org/drawingml/2006/main" noGrp="1"/>
          </p:cNvSpPr>
          <p:nvPr/>
        </p:nvSpPr>
        <p:spPr>
          <a:xfrm xmlns:a="http://schemas.openxmlformats.org/drawingml/2006/main">
            <a:off x="2038350" y="1943100"/>
            <a:ext cx="19050" cy="19050"/>
          </a:xfrm>
          <a:prstGeom xmlns:a="http://schemas.openxmlformats.org/drawingml/2006/main" prst="rect">
            <a:avLst/>
          </a:prstGeom>
          <a:noFill xmlns:a="http://schemas.openxmlformats.org/drawingml/2006/main"/>
          <a:ln xmlns:a="http://schemas.openxmlformats.org/drawingml/2006/main" w="0">
            <a:noFill/>
          </a:ln>
        </p:spPr>
      </p:sp>
      <p:cxnSp>
        <p:nvCxnSpPr>
          <p:cNvPr id="67" name=""/>
          <p:cNvCxnSpPr>
            <a:stCxn xmlns:a="http://schemas.openxmlformats.org/drawingml/2006/main" id="2" idx="2"/>
            <a:endCxn xmlns:a="http://schemas.openxmlformats.org/drawingml/2006/main" id="12" idx="0"/>
          </p:cNvCxnSpPr>
          <p:nvPr/>
        </p:nvCxnSpPr>
        <p:spPr>
          <a:xfrm xmlns:a="http://schemas.openxmlformats.org/drawingml/2006/main">
            <a:off x="5905500" y="1476375"/>
            <a:ext cx="0" cy="466725"/>
          </a:xfrm>
          <a:prstGeom xmlns:a="http://schemas.openxmlformats.org/drawingml/2006/main" prst="straightConnector1">
            <a:avLst/>
          </a:prstGeom>
          <a:ln xmlns:a="http://schemas.openxmlformats.org/drawingml/2006/main" w="22860">
            <a:solidFill>
              <a:srgbClr val="255E8D"/>
            </a:solidFill>
            <a:prstDash val="dash"/>
            <a:tailEnd type="none" w="med" len="med"/>
          </a:ln>
        </p:spPr>
      </p:cxnSp>
      <p:cxnSp>
        <p:nvCxnSpPr>
          <p:cNvPr id="68" name=""/>
          <p:cNvCxnSpPr>
            <a:stCxn xmlns:a="http://schemas.openxmlformats.org/drawingml/2006/main" id="12" idx="1"/>
            <a:endCxn xmlns:a="http://schemas.openxmlformats.org/drawingml/2006/main" id="13" idx="3"/>
          </p:cNvCxnSpPr>
          <p:nvPr/>
        </p:nvCxnSpPr>
        <p:spPr>
          <a:xfrm xmlns:a="http://schemas.openxmlformats.org/drawingml/2006/main" flipH="1">
            <a:off x="2057400" y="1952625"/>
            <a:ext cx="3838575" cy="0"/>
          </a:xfrm>
          <a:prstGeom xmlns:a="http://schemas.openxmlformats.org/drawingml/2006/main" prst="straightConnector1">
            <a:avLst/>
          </a:prstGeom>
          <a:ln xmlns:a="http://schemas.openxmlformats.org/drawingml/2006/main" w="22860">
            <a:solidFill>
              <a:srgbClr val="255E8D"/>
            </a:solidFill>
            <a:prstDash val="dash"/>
            <a:tailEnd type="none" w="med" len="med"/>
          </a:ln>
        </p:spPr>
      </p:cxnSp>
      <p:cxnSp>
        <p:nvCxnSpPr>
          <p:cNvPr id="69" name=""/>
          <p:cNvCxnSpPr>
            <a:stCxn xmlns:a="http://schemas.openxmlformats.org/drawingml/2006/main" id="13" idx="2"/>
            <a:endCxn xmlns:a="http://schemas.openxmlformats.org/drawingml/2006/main" id="6" idx="0"/>
          </p:cNvCxnSpPr>
          <p:nvPr/>
        </p:nvCxnSpPr>
        <p:spPr>
          <a:xfrm xmlns:a="http://schemas.openxmlformats.org/drawingml/2006/main">
            <a:off x="2047875" y="1962150"/>
            <a:ext cx="0" cy="704850"/>
          </a:xfrm>
          <a:prstGeom xmlns:a="http://schemas.openxmlformats.org/drawingml/2006/main" prst="straightConnector1">
            <a:avLst/>
          </a:prstGeom>
          <a:ln xmlns:a="http://schemas.openxmlformats.org/drawingml/2006/main" w="22860">
            <a:solidFill>
              <a:srgbClr val="255E8D"/>
            </a:solidFill>
            <a:prstDash val="dash"/>
            <a:tailEnd type="triangle" w="med" len="med"/>
          </a:ln>
        </p:spPr>
      </p:cxnSp>
      <p:sp>
        <p:nvSpPr>
          <p:cNvPr id="17" name="Offline boundary calibration">
            <a:extLst xmlns:a="http://schemas.openxmlformats.org/drawingml/2006/main">
              <a:ext uri="{FF2B5EF4-FFF2-40B4-BE49-F238E27FC236}">
                <a16:creationId xmlns:a16="http://schemas.microsoft.com/office/drawing/2014/main" id="{C04206F5-1E96-40D6-8E62-289BDD0C73D1}"/>
              </a:ext>
            </a:extLst>
          </p:cNvPr>
          <p:cNvSpPr>
            <a:spLocks xmlns:a="http://schemas.openxmlformats.org/drawingml/2006/main" noGrp="1"/>
          </p:cNvSpPr>
          <p:nvPr/>
        </p:nvSpPr>
        <p:spPr>
          <a:xfrm xmlns:a="http://schemas.openxmlformats.org/drawingml/2006/main">
            <a:off x="381000" y="5476875"/>
            <a:ext cx="6762750" cy="1666875"/>
          </a:xfrm>
          <a:prstGeom xmlns:a="http://schemas.openxmlformats.org/drawingml/2006/main" prst="rect">
            <a:avLst/>
          </a:prstGeom>
          <a:solidFill xmlns:a="http://schemas.openxmlformats.org/drawingml/2006/main">
            <a:srgbClr val="EDF6F3"/>
          </a:solidFill>
          <a:ln xmlns:a="http://schemas.openxmlformats.org/drawingml/2006/main" w="19050">
            <a:solidFill>
              <a:srgbClr val="13756C"/>
            </a:solidFill>
          </a:ln>
        </p:spPr>
        <p:txBody>
          <a:bodyPr xmlns:a="http://schemas.openxmlformats.org/drawingml/2006/main" lIns="114300" tIns="76200" rIns="114300" bIns="76200" anchor="ctr">
            <a:noAutofit/>
          </a:bodyPr>
          <a:lstStyle xmlns:a="http://schemas.openxmlformats.org/drawingml/2006/main"/>
          <a:p xmlns:a="http://schemas.openxmlformats.org/drawingml/2006/main">
            <a:pPr algn="ctr">
              <a:defRPr sz="2175">
                <a:solidFill>
                  <a:srgbClr val="1B2D3B"/>
                </a:solidFill>
                <a:latin typeface="Arial"/>
                <a:ea typeface="Arial"/>
                <a:cs typeface="Arial"/>
              </a:defRPr>
            </a:pPr>
            <a:r>
              <a:rPr sz="2175">
                <a:solidFill>
                  <a:srgbClr val="1B2D3B"/>
                </a:solidFill>
                <a:latin typeface="Arial"/>
                <a:ea typeface="Arial"/>
                <a:cs typeface="Arial"/>
              </a:rPr>
              <a:t>Before label queries</a:t>
            </a:r>
          </a:p>
          <a:p xmlns:a="http://schemas.openxmlformats.org/drawingml/2006/main">
            <a:pPr algn="ctr">
              <a:defRPr sz="2175">
                <a:solidFill>
                  <a:srgbClr val="1B2D3B"/>
                </a:solidFill>
                <a:latin typeface="Arial"/>
                <a:ea typeface="Arial"/>
                <a:cs typeface="Arial"/>
              </a:defRPr>
            </a:pPr>
            <a:r>
              <a:rPr sz="2175">
                <a:solidFill>
                  <a:srgbClr val="1B2D3B"/>
                </a:solidFill>
                <a:latin typeface="Arial"/>
                <a:ea typeface="Arial"/>
                <a:cs typeface="Arial"/>
              </a:rPr>
              <a:t>N, k, δ and query checkpoints</a:t>
            </a:r>
          </a:p>
          <a:p xmlns:a="http://schemas.openxmlformats.org/drawingml/2006/main">
            <a:pPr algn="ctr">
              <a:defRPr sz="2175">
                <a:solidFill>
                  <a:srgbClr val="1B2D3B"/>
                </a:solidFill>
                <a:latin typeface="Arial"/>
                <a:ea typeface="Arial"/>
                <a:cs typeface="Arial"/>
              </a:defRPr>
            </a:pPr>
            <a:r>
              <a:rPr sz="2175">
                <a:solidFill>
                  <a:srgbClr val="1B2D3B"/>
                </a:solidFill>
                <a:latin typeface="Arial"/>
                <a:ea typeface="Arial"/>
                <a:cs typeface="Arial"/>
              </a:rPr>
              <a:t>Exact recursion for joint crossing probability</a:t>
            </a:r>
          </a:p>
        </p:txBody>
      </p:sp>
      <p:sp>
        <p:nvSpPr>
          <p:cNvPr id="18" name="Label-free stopping decision">
            <a:extLst xmlns:a="http://schemas.openxmlformats.org/drawingml/2006/main">
              <a:ext uri="{FF2B5EF4-FFF2-40B4-BE49-F238E27FC236}">
                <a16:creationId xmlns:a16="http://schemas.microsoft.com/office/drawing/2014/main" id="{C6250BC1-58A9-4D70-8126-8388BD6863C6}"/>
              </a:ext>
            </a:extLst>
          </p:cNvPr>
          <p:cNvSpPr>
            <a:spLocks xmlns:a="http://schemas.openxmlformats.org/drawingml/2006/main" noGrp="1"/>
          </p:cNvSpPr>
          <p:nvPr/>
        </p:nvSpPr>
        <p:spPr>
          <a:xfrm xmlns:a="http://schemas.openxmlformats.org/drawingml/2006/main">
            <a:off x="8286750" y="5476875"/>
            <a:ext cx="6572250" cy="1666875"/>
          </a:xfrm>
          <a:prstGeom xmlns:a="http://schemas.openxmlformats.org/drawingml/2006/main" prst="rect">
            <a:avLst/>
          </a:prstGeom>
          <a:solidFill xmlns:a="http://schemas.openxmlformats.org/drawingml/2006/main">
            <a:srgbClr val="EDF6F3"/>
          </a:solidFill>
          <a:ln xmlns:a="http://schemas.openxmlformats.org/drawingml/2006/main" w="19050">
            <a:solidFill>
              <a:srgbClr val="13756C"/>
            </a:solidFill>
          </a:ln>
        </p:spPr>
        <p:txBody>
          <a:bodyPr xmlns:a="http://schemas.openxmlformats.org/drawingml/2006/main" lIns="114300" tIns="76200" rIns="114300" bIns="76200" anchor="ctr">
            <a:noAutofit/>
          </a:bodyPr>
          <a:lstStyle xmlns:a="http://schemas.openxmlformats.org/drawingml/2006/main"/>
          <a:p xmlns:a="http://schemas.openxmlformats.org/drawingml/2006/main">
            <a:pPr algn="ctr">
              <a:defRPr sz="2175">
                <a:solidFill>
                  <a:srgbClr val="1B2D3B"/>
                </a:solidFill>
                <a:latin typeface="Arial"/>
                <a:ea typeface="Arial"/>
                <a:cs typeface="Arial"/>
              </a:defRPr>
            </a:pPr>
            <a:r>
              <a:rPr sz="2175">
                <a:solidFill>
                  <a:srgbClr val="1B2D3B"/>
                </a:solidFill>
                <a:latin typeface="Arial"/>
                <a:ea typeface="Arial"/>
                <a:cs typeface="Arial"/>
              </a:rPr>
              <a:t>Set changes on the unlabeled target batch</a:t>
            </a:r>
          </a:p>
          <a:p xmlns:a="http://schemas.openxmlformats.org/drawingml/2006/main">
            <a:pPr algn="ctr">
              <a:defRPr sz="2175">
                <a:solidFill>
                  <a:srgbClr val="1B2D3B"/>
                </a:solidFill>
                <a:latin typeface="Arial"/>
                <a:ea typeface="Arial"/>
                <a:cs typeface="Arial"/>
              </a:defRPr>
            </a:pPr>
            <a:r>
              <a:rPr sz="2175">
                <a:solidFill>
                  <a:srgbClr val="1B2D3B"/>
                </a:solidFill>
                <a:latin typeface="Arial"/>
                <a:ea typeface="Arial"/>
                <a:cs typeface="Arial"/>
              </a:rPr>
              <a:t>Δₜ = meanₓ ( |C(x; Uₜ)| − |C(x; Lₜ)| )</a:t>
            </a:r>
          </a:p>
          <a:p xmlns:a="http://schemas.openxmlformats.org/drawingml/2006/main">
            <a:pPr algn="ctr">
              <a:defRPr sz="2175">
                <a:solidFill>
                  <a:srgbClr val="1B2D3B"/>
                </a:solidFill>
                <a:latin typeface="Arial"/>
                <a:ea typeface="Arial"/>
                <a:cs typeface="Arial"/>
              </a:defRPr>
            </a:pPr>
            <a:r>
              <a:rPr sz="2175">
                <a:solidFill>
                  <a:srgbClr val="1B2D3B"/>
                </a:solidFill>
                <a:latin typeface="Arial"/>
                <a:ea typeface="Arial"/>
                <a:cs typeface="Arial"/>
              </a:rPr>
              <a:t>Stop if Δₜ ≤ τ; otherwise query again</a:t>
            </a:r>
          </a:p>
        </p:txBody>
      </p:sp>
      <p:cxnSp>
        <p:nvCxnSpPr>
          <p:cNvPr id="72" name=""/>
          <p:cNvCxnSpPr>
            <a:stCxn xmlns:a="http://schemas.openxmlformats.org/drawingml/2006/main" id="6" idx="2"/>
            <a:endCxn xmlns:a="http://schemas.openxmlformats.org/drawingml/2006/main" id="17" idx="0"/>
          </p:cNvCxnSpPr>
          <p:nvPr/>
        </p:nvCxnSpPr>
        <p:spPr>
          <a:xfrm xmlns:a="http://schemas.openxmlformats.org/drawingml/2006/main">
            <a:off x="2047875" y="4286250"/>
            <a:ext cx="1714500" cy="1190625"/>
          </a:xfrm>
          <a:prstGeom xmlns:a="http://schemas.openxmlformats.org/drawingml/2006/main" prst="straightConnector1">
            <a:avLst/>
          </a:prstGeom>
          <a:ln xmlns:a="http://schemas.openxmlformats.org/drawingml/2006/main" w="22860">
            <a:solidFill>
              <a:srgbClr val="8D580C"/>
            </a:solidFill>
            <a:prstDash val="solid"/>
            <a:tailEnd type="triangle" w="med" len="med"/>
          </a:ln>
        </p:spPr>
      </p:cxnSp>
      <p:sp>
        <p:nvSpPr>
          <p:cNvPr id="20" name="Connector anchor 3">
            <a:extLst xmlns:a="http://schemas.openxmlformats.org/drawingml/2006/main">
              <a:ext uri="{FF2B5EF4-FFF2-40B4-BE49-F238E27FC236}">
                <a16:creationId xmlns:a16="http://schemas.microsoft.com/office/drawing/2014/main" id="{97BDC78D-7AC4-41EA-AC65-3AAF9EEE1765}"/>
              </a:ext>
            </a:extLst>
          </p:cNvPr>
          <p:cNvSpPr>
            <a:spLocks xmlns:a="http://schemas.openxmlformats.org/drawingml/2006/main" noGrp="1"/>
          </p:cNvSpPr>
          <p:nvPr/>
        </p:nvSpPr>
        <p:spPr>
          <a:xfrm xmlns:a="http://schemas.openxmlformats.org/drawingml/2006/main">
            <a:off x="7753350" y="6296025"/>
            <a:ext cx="19050" cy="19050"/>
          </a:xfrm>
          <a:prstGeom xmlns:a="http://schemas.openxmlformats.org/drawingml/2006/main" prst="rect">
            <a:avLst/>
          </a:prstGeom>
          <a:noFill xmlns:a="http://schemas.openxmlformats.org/drawingml/2006/main"/>
          <a:ln xmlns:a="http://schemas.openxmlformats.org/drawingml/2006/main" w="0">
            <a:noFill/>
          </a:ln>
        </p:spPr>
      </p:sp>
      <p:sp>
        <p:nvSpPr>
          <p:cNvPr id="21" name="Connector anchor 4">
            <a:extLst xmlns:a="http://schemas.openxmlformats.org/drawingml/2006/main">
              <a:ext uri="{FF2B5EF4-FFF2-40B4-BE49-F238E27FC236}">
                <a16:creationId xmlns:a16="http://schemas.microsoft.com/office/drawing/2014/main" id="{AAD4574D-2CE1-458A-953D-E49C25E40220}"/>
              </a:ext>
            </a:extLst>
          </p:cNvPr>
          <p:cNvSpPr>
            <a:spLocks xmlns:a="http://schemas.openxmlformats.org/drawingml/2006/main" noGrp="1"/>
          </p:cNvSpPr>
          <p:nvPr/>
        </p:nvSpPr>
        <p:spPr>
          <a:xfrm xmlns:a="http://schemas.openxmlformats.org/drawingml/2006/main">
            <a:off x="7753350" y="2200275"/>
            <a:ext cx="19050" cy="19050"/>
          </a:xfrm>
          <a:prstGeom xmlns:a="http://schemas.openxmlformats.org/drawingml/2006/main" prst="rect">
            <a:avLst/>
          </a:prstGeom>
          <a:noFill xmlns:a="http://schemas.openxmlformats.org/drawingml/2006/main"/>
          <a:ln xmlns:a="http://schemas.openxmlformats.org/drawingml/2006/main" w="0">
            <a:noFill/>
          </a:ln>
        </p:spPr>
      </p:sp>
      <p:sp>
        <p:nvSpPr>
          <p:cNvPr id="22" name="Connector anchor 5">
            <a:extLst xmlns:a="http://schemas.openxmlformats.org/drawingml/2006/main">
              <a:ext uri="{FF2B5EF4-FFF2-40B4-BE49-F238E27FC236}">
                <a16:creationId xmlns:a16="http://schemas.microsoft.com/office/drawing/2014/main" id="{7982D765-09D8-462C-984D-F7C230EDF7D9}"/>
              </a:ext>
            </a:extLst>
          </p:cNvPr>
          <p:cNvSpPr>
            <a:spLocks xmlns:a="http://schemas.openxmlformats.org/drawingml/2006/main" noGrp="1"/>
          </p:cNvSpPr>
          <p:nvPr/>
        </p:nvSpPr>
        <p:spPr>
          <a:xfrm xmlns:a="http://schemas.openxmlformats.org/drawingml/2006/main">
            <a:off x="9801225" y="2200275"/>
            <a:ext cx="19050" cy="19050"/>
          </a:xfrm>
          <a:prstGeom xmlns:a="http://schemas.openxmlformats.org/drawingml/2006/main" prst="rect">
            <a:avLst/>
          </a:prstGeom>
          <a:noFill xmlns:a="http://schemas.openxmlformats.org/drawingml/2006/main"/>
          <a:ln xmlns:a="http://schemas.openxmlformats.org/drawingml/2006/main" w="0">
            <a:noFill/>
          </a:ln>
        </p:spPr>
      </p:sp>
      <p:cxnSp>
        <p:nvCxnSpPr>
          <p:cNvPr id="76" name=""/>
          <p:cNvCxnSpPr>
            <a:stCxn xmlns:a="http://schemas.openxmlformats.org/drawingml/2006/main" id="17" idx="3"/>
            <a:endCxn xmlns:a="http://schemas.openxmlformats.org/drawingml/2006/main" id="20" idx="1"/>
          </p:cNvCxnSpPr>
          <p:nvPr/>
        </p:nvCxnSpPr>
        <p:spPr>
          <a:xfrm xmlns:a="http://schemas.openxmlformats.org/drawingml/2006/main" flipV="1">
            <a:off x="7143750" y="6305550"/>
            <a:ext cx="609600" cy="4763"/>
          </a:xfrm>
          <a:prstGeom xmlns:a="http://schemas.openxmlformats.org/drawingml/2006/main" prst="straightConnector1">
            <a:avLst/>
          </a:prstGeom>
          <a:ln xmlns:a="http://schemas.openxmlformats.org/drawingml/2006/main" w="22860">
            <a:solidFill>
              <a:srgbClr val="13756C"/>
            </a:solidFill>
            <a:prstDash val="solid"/>
            <a:tailEnd type="none" w="med" len="med"/>
          </a:ln>
        </p:spPr>
      </p:cxnSp>
      <p:cxnSp>
        <p:nvCxnSpPr>
          <p:cNvPr id="77" name=""/>
          <p:cNvCxnSpPr>
            <a:stCxn xmlns:a="http://schemas.openxmlformats.org/drawingml/2006/main" id="20" idx="0"/>
            <a:endCxn xmlns:a="http://schemas.openxmlformats.org/drawingml/2006/main" id="21" idx="2"/>
          </p:cNvCxnSpPr>
          <p:nvPr/>
        </p:nvCxnSpPr>
        <p:spPr>
          <a:xfrm xmlns:a="http://schemas.openxmlformats.org/drawingml/2006/main" flipV="1">
            <a:off x="7762875" y="2219325"/>
            <a:ext cx="0" cy="4076700"/>
          </a:xfrm>
          <a:prstGeom xmlns:a="http://schemas.openxmlformats.org/drawingml/2006/main" prst="straightConnector1">
            <a:avLst/>
          </a:prstGeom>
          <a:ln xmlns:a="http://schemas.openxmlformats.org/drawingml/2006/main" w="22860">
            <a:solidFill>
              <a:srgbClr val="13756C"/>
            </a:solidFill>
            <a:prstDash val="solid"/>
            <a:tailEnd type="none" w="med" len="med"/>
          </a:ln>
        </p:spPr>
      </p:cxnSp>
      <p:cxnSp>
        <p:nvCxnSpPr>
          <p:cNvPr id="78" name=""/>
          <p:cNvCxnSpPr>
            <a:stCxn xmlns:a="http://schemas.openxmlformats.org/drawingml/2006/main" id="21" idx="3"/>
            <a:endCxn xmlns:a="http://schemas.openxmlformats.org/drawingml/2006/main" id="22" idx="1"/>
          </p:cNvCxnSpPr>
          <p:nvPr/>
        </p:nvCxnSpPr>
        <p:spPr>
          <a:xfrm xmlns:a="http://schemas.openxmlformats.org/drawingml/2006/main">
            <a:off x="7772400" y="2209800"/>
            <a:ext cx="2028825" cy="0"/>
          </a:xfrm>
          <a:prstGeom xmlns:a="http://schemas.openxmlformats.org/drawingml/2006/main" prst="straightConnector1">
            <a:avLst/>
          </a:prstGeom>
          <a:ln xmlns:a="http://schemas.openxmlformats.org/drawingml/2006/main" w="22860">
            <a:solidFill>
              <a:srgbClr val="13756C"/>
            </a:solidFill>
            <a:prstDash val="solid"/>
            <a:tailEnd type="none" w="med" len="med"/>
          </a:ln>
        </p:spPr>
      </p:cxnSp>
      <p:cxnSp>
        <p:nvCxnSpPr>
          <p:cNvPr id="79" name=""/>
          <p:cNvCxnSpPr>
            <a:stCxn xmlns:a="http://schemas.openxmlformats.org/drawingml/2006/main" id="22" idx="2"/>
            <a:endCxn xmlns:a="http://schemas.openxmlformats.org/drawingml/2006/main" id="8" idx="0"/>
          </p:cNvCxnSpPr>
          <p:nvPr/>
        </p:nvCxnSpPr>
        <p:spPr>
          <a:xfrm xmlns:a="http://schemas.openxmlformats.org/drawingml/2006/main">
            <a:off x="9810750" y="2219325"/>
            <a:ext cx="0" cy="447675"/>
          </a:xfrm>
          <a:prstGeom xmlns:a="http://schemas.openxmlformats.org/drawingml/2006/main" prst="straightConnector1">
            <a:avLst/>
          </a:prstGeom>
          <a:ln xmlns:a="http://schemas.openxmlformats.org/drawingml/2006/main" w="22860">
            <a:solidFill>
              <a:srgbClr val="13756C"/>
            </a:solidFill>
            <a:prstDash val="solid"/>
            <a:tailEnd type="triangle" w="med" len="med"/>
          </a:ln>
        </p:spPr>
      </p:cxnSp>
      <p:cxnSp>
        <p:nvCxnSpPr>
          <p:cNvPr id="80" name=""/>
          <p:cNvCxnSpPr>
            <a:stCxn xmlns:a="http://schemas.openxmlformats.org/drawingml/2006/main" id="8" idx="2"/>
            <a:endCxn xmlns:a="http://schemas.openxmlformats.org/drawingml/2006/main" id="18" idx="0"/>
          </p:cNvCxnSpPr>
          <p:nvPr/>
        </p:nvCxnSpPr>
        <p:spPr>
          <a:xfrm xmlns:a="http://schemas.openxmlformats.org/drawingml/2006/main">
            <a:off x="9810750" y="4286250"/>
            <a:ext cx="1762125" cy="1190625"/>
          </a:xfrm>
          <a:prstGeom xmlns:a="http://schemas.openxmlformats.org/drawingml/2006/main" prst="straightConnector1">
            <a:avLst/>
          </a:prstGeom>
          <a:ln xmlns:a="http://schemas.openxmlformats.org/drawingml/2006/main" w="22860">
            <a:solidFill>
              <a:srgbClr val="13756C"/>
            </a:solidFill>
            <a:prstDash val="solid"/>
            <a:tailEnd type="triangle" w="med" len="med"/>
          </a:ln>
        </p:spPr>
      </p:cxnSp>
      <p:sp>
        <p:nvSpPr>
          <p:cNvPr id="28" name="Connector anchor 6">
            <a:extLst xmlns:a="http://schemas.openxmlformats.org/drawingml/2006/main">
              <a:ext uri="{FF2B5EF4-FFF2-40B4-BE49-F238E27FC236}">
                <a16:creationId xmlns:a16="http://schemas.microsoft.com/office/drawing/2014/main" id="{132C45C5-30FE-41A2-B39B-6907C224C30A}"/>
              </a:ext>
            </a:extLst>
          </p:cNvPr>
          <p:cNvSpPr>
            <a:spLocks xmlns:a="http://schemas.openxmlformats.org/drawingml/2006/main" noGrp="1"/>
          </p:cNvSpPr>
          <p:nvPr/>
        </p:nvSpPr>
        <p:spPr>
          <a:xfrm xmlns:a="http://schemas.openxmlformats.org/drawingml/2006/main">
            <a:off x="15039975" y="895350"/>
            <a:ext cx="19050" cy="19050"/>
          </a:xfrm>
          <a:prstGeom xmlns:a="http://schemas.openxmlformats.org/drawingml/2006/main" prst="rect">
            <a:avLst/>
          </a:prstGeom>
          <a:noFill xmlns:a="http://schemas.openxmlformats.org/drawingml/2006/main"/>
          <a:ln xmlns:a="http://schemas.openxmlformats.org/drawingml/2006/main" w="0">
            <a:noFill/>
          </a:ln>
        </p:spPr>
      </p:sp>
      <p:sp>
        <p:nvSpPr>
          <p:cNvPr id="29" name="Connector anchor 7">
            <a:extLst xmlns:a="http://schemas.openxmlformats.org/drawingml/2006/main">
              <a:ext uri="{FF2B5EF4-FFF2-40B4-BE49-F238E27FC236}">
                <a16:creationId xmlns:a16="http://schemas.microsoft.com/office/drawing/2014/main" id="{BE1A791C-54D4-4A92-837C-43262DF3C31F}"/>
              </a:ext>
            </a:extLst>
          </p:cNvPr>
          <p:cNvSpPr>
            <a:spLocks xmlns:a="http://schemas.openxmlformats.org/drawingml/2006/main" noGrp="1"/>
          </p:cNvSpPr>
          <p:nvPr/>
        </p:nvSpPr>
        <p:spPr>
          <a:xfrm xmlns:a="http://schemas.openxmlformats.org/drawingml/2006/main">
            <a:off x="15039975" y="5229225"/>
            <a:ext cx="19050" cy="19050"/>
          </a:xfrm>
          <a:prstGeom xmlns:a="http://schemas.openxmlformats.org/drawingml/2006/main" prst="rect">
            <a:avLst/>
          </a:prstGeom>
          <a:noFill xmlns:a="http://schemas.openxmlformats.org/drawingml/2006/main"/>
          <a:ln xmlns:a="http://schemas.openxmlformats.org/drawingml/2006/main" w="0">
            <a:noFill/>
          </a:ln>
        </p:spPr>
      </p:sp>
      <p:sp>
        <p:nvSpPr>
          <p:cNvPr id="30" name="Connector anchor 8">
            <a:extLst xmlns:a="http://schemas.openxmlformats.org/drawingml/2006/main">
              <a:ext uri="{FF2B5EF4-FFF2-40B4-BE49-F238E27FC236}">
                <a16:creationId xmlns:a16="http://schemas.microsoft.com/office/drawing/2014/main" id="{24F2824E-06A4-430A-ACB0-088A3ABE410D}"/>
              </a:ext>
            </a:extLst>
          </p:cNvPr>
          <p:cNvSpPr>
            <a:spLocks xmlns:a="http://schemas.openxmlformats.org/drawingml/2006/main" noGrp="1"/>
          </p:cNvSpPr>
          <p:nvPr/>
        </p:nvSpPr>
        <p:spPr>
          <a:xfrm xmlns:a="http://schemas.openxmlformats.org/drawingml/2006/main">
            <a:off x="11563350" y="5229225"/>
            <a:ext cx="19050" cy="19050"/>
          </a:xfrm>
          <a:prstGeom xmlns:a="http://schemas.openxmlformats.org/drawingml/2006/main" prst="rect">
            <a:avLst/>
          </a:prstGeom>
          <a:noFill xmlns:a="http://schemas.openxmlformats.org/drawingml/2006/main"/>
          <a:ln xmlns:a="http://schemas.openxmlformats.org/drawingml/2006/main" w="0">
            <a:noFill/>
          </a:ln>
        </p:spPr>
      </p:sp>
      <p:cxnSp>
        <p:nvCxnSpPr>
          <p:cNvPr id="84" name=""/>
          <p:cNvCxnSpPr>
            <a:stCxn xmlns:a="http://schemas.openxmlformats.org/drawingml/2006/main" id="3" idx="3"/>
            <a:endCxn xmlns:a="http://schemas.openxmlformats.org/drawingml/2006/main" id="28" idx="1"/>
          </p:cNvCxnSpPr>
          <p:nvPr/>
        </p:nvCxnSpPr>
        <p:spPr>
          <a:xfrm xmlns:a="http://schemas.openxmlformats.org/drawingml/2006/main">
            <a:off x="14859000" y="904875"/>
            <a:ext cx="180975" cy="0"/>
          </a:xfrm>
          <a:prstGeom xmlns:a="http://schemas.openxmlformats.org/drawingml/2006/main" prst="straightConnector1">
            <a:avLst/>
          </a:prstGeom>
          <a:ln xmlns:a="http://schemas.openxmlformats.org/drawingml/2006/main" w="22860">
            <a:solidFill>
              <a:srgbClr val="255E8D"/>
            </a:solidFill>
            <a:prstDash val="dash"/>
            <a:tailEnd type="none" w="med" len="med"/>
          </a:ln>
        </p:spPr>
      </p:cxnSp>
      <p:cxnSp>
        <p:nvCxnSpPr>
          <p:cNvPr id="85" name=""/>
          <p:cNvCxnSpPr>
            <a:stCxn xmlns:a="http://schemas.openxmlformats.org/drawingml/2006/main" id="28" idx="2"/>
            <a:endCxn xmlns:a="http://schemas.openxmlformats.org/drawingml/2006/main" id="29" idx="0"/>
          </p:cNvCxnSpPr>
          <p:nvPr/>
        </p:nvCxnSpPr>
        <p:spPr>
          <a:xfrm xmlns:a="http://schemas.openxmlformats.org/drawingml/2006/main">
            <a:off x="15049500" y="914400"/>
            <a:ext cx="0" cy="4314825"/>
          </a:xfrm>
          <a:prstGeom xmlns:a="http://schemas.openxmlformats.org/drawingml/2006/main" prst="straightConnector1">
            <a:avLst/>
          </a:prstGeom>
          <a:ln xmlns:a="http://schemas.openxmlformats.org/drawingml/2006/main" w="22860">
            <a:solidFill>
              <a:srgbClr val="255E8D"/>
            </a:solidFill>
            <a:prstDash val="dash"/>
            <a:tailEnd type="none" w="med" len="med"/>
          </a:ln>
        </p:spPr>
      </p:cxnSp>
      <p:cxnSp>
        <p:nvCxnSpPr>
          <p:cNvPr id="86" name=""/>
          <p:cNvCxnSpPr>
            <a:stCxn xmlns:a="http://schemas.openxmlformats.org/drawingml/2006/main" id="29" idx="1"/>
            <a:endCxn xmlns:a="http://schemas.openxmlformats.org/drawingml/2006/main" id="30" idx="3"/>
          </p:cNvCxnSpPr>
          <p:nvPr/>
        </p:nvCxnSpPr>
        <p:spPr>
          <a:xfrm xmlns:a="http://schemas.openxmlformats.org/drawingml/2006/main" flipH="1">
            <a:off x="11582400" y="5238750"/>
            <a:ext cx="3457575" cy="0"/>
          </a:xfrm>
          <a:prstGeom xmlns:a="http://schemas.openxmlformats.org/drawingml/2006/main" prst="straightConnector1">
            <a:avLst/>
          </a:prstGeom>
          <a:ln xmlns:a="http://schemas.openxmlformats.org/drawingml/2006/main" w="22860">
            <a:solidFill>
              <a:srgbClr val="255E8D"/>
            </a:solidFill>
            <a:prstDash val="dash"/>
            <a:tailEnd type="none" w="med" len="med"/>
          </a:ln>
        </p:spPr>
      </p:cxnSp>
      <p:cxnSp>
        <p:nvCxnSpPr>
          <p:cNvPr id="87" name=""/>
          <p:cNvCxnSpPr>
            <a:stCxn xmlns:a="http://schemas.openxmlformats.org/drawingml/2006/main" id="30" idx="2"/>
            <a:endCxn xmlns:a="http://schemas.openxmlformats.org/drawingml/2006/main" id="18" idx="0"/>
          </p:cNvCxnSpPr>
          <p:nvPr/>
        </p:nvCxnSpPr>
        <p:spPr>
          <a:xfrm xmlns:a="http://schemas.openxmlformats.org/drawingml/2006/main">
            <a:off x="11572875" y="5248275"/>
            <a:ext cx="0" cy="228600"/>
          </a:xfrm>
          <a:prstGeom xmlns:a="http://schemas.openxmlformats.org/drawingml/2006/main" prst="straightConnector1">
            <a:avLst/>
          </a:prstGeom>
          <a:ln xmlns:a="http://schemas.openxmlformats.org/drawingml/2006/main" w="22860">
            <a:solidFill>
              <a:srgbClr val="255E8D"/>
            </a:solidFill>
            <a:prstDash val="dash"/>
            <a:tailEnd type="triangle" w="med" len="med"/>
          </a:ln>
        </p:spPr>
      </p:cxnSp>
      <p:sp>
        <p:nvSpPr>
          <p:cNvPr id="35" name="Connector anchor 9">
            <a:extLst xmlns:a="http://schemas.openxmlformats.org/drawingml/2006/main">
              <a:ext uri="{FF2B5EF4-FFF2-40B4-BE49-F238E27FC236}">
                <a16:creationId xmlns:a16="http://schemas.microsoft.com/office/drawing/2014/main" id="{B81B6F54-89C8-4796-8D1F-CA6E7E2ABC86}"/>
              </a:ext>
            </a:extLst>
          </p:cNvPr>
          <p:cNvSpPr>
            <a:spLocks xmlns:a="http://schemas.openxmlformats.org/drawingml/2006/main" noGrp="1"/>
          </p:cNvSpPr>
          <p:nvPr/>
        </p:nvSpPr>
        <p:spPr>
          <a:xfrm xmlns:a="http://schemas.openxmlformats.org/drawingml/2006/main">
            <a:off x="15135225" y="6296025"/>
            <a:ext cx="19050" cy="19050"/>
          </a:xfrm>
          <a:prstGeom xmlns:a="http://schemas.openxmlformats.org/drawingml/2006/main" prst="rect">
            <a:avLst/>
          </a:prstGeom>
          <a:noFill xmlns:a="http://schemas.openxmlformats.org/drawingml/2006/main"/>
          <a:ln xmlns:a="http://schemas.openxmlformats.org/drawingml/2006/main" w="0">
            <a:noFill/>
          </a:ln>
        </p:spPr>
      </p:sp>
      <p:sp>
        <p:nvSpPr>
          <p:cNvPr id="36" name="Connector anchor 10">
            <a:extLst xmlns:a="http://schemas.openxmlformats.org/drawingml/2006/main">
              <a:ext uri="{FF2B5EF4-FFF2-40B4-BE49-F238E27FC236}">
                <a16:creationId xmlns:a16="http://schemas.microsoft.com/office/drawing/2014/main" id="{CFDAB64B-BF88-4F4C-8D80-2068970FF23F}"/>
              </a:ext>
            </a:extLst>
          </p:cNvPr>
          <p:cNvSpPr>
            <a:spLocks xmlns:a="http://schemas.openxmlformats.org/drawingml/2006/main" noGrp="1"/>
          </p:cNvSpPr>
          <p:nvPr/>
        </p:nvSpPr>
        <p:spPr>
          <a:xfrm xmlns:a="http://schemas.openxmlformats.org/drawingml/2006/main">
            <a:off x="15135225" y="4657725"/>
            <a:ext cx="19050" cy="19050"/>
          </a:xfrm>
          <a:prstGeom xmlns:a="http://schemas.openxmlformats.org/drawingml/2006/main" prst="rect">
            <a:avLst/>
          </a:prstGeom>
          <a:noFill xmlns:a="http://schemas.openxmlformats.org/drawingml/2006/main"/>
          <a:ln xmlns:a="http://schemas.openxmlformats.org/drawingml/2006/main" w="0">
            <a:noFill/>
          </a:ln>
        </p:spPr>
      </p:sp>
      <p:sp>
        <p:nvSpPr>
          <p:cNvPr id="37" name="Connector anchor 11">
            <a:extLst xmlns:a="http://schemas.openxmlformats.org/drawingml/2006/main">
              <a:ext uri="{FF2B5EF4-FFF2-40B4-BE49-F238E27FC236}">
                <a16:creationId xmlns:a16="http://schemas.microsoft.com/office/drawing/2014/main" id="{669831F8-2ADF-4489-9B19-6373E9450828}"/>
              </a:ext>
            </a:extLst>
          </p:cNvPr>
          <p:cNvSpPr>
            <a:spLocks xmlns:a="http://schemas.openxmlformats.org/drawingml/2006/main" noGrp="1"/>
          </p:cNvSpPr>
          <p:nvPr/>
        </p:nvSpPr>
        <p:spPr>
          <a:xfrm xmlns:a="http://schemas.openxmlformats.org/drawingml/2006/main">
            <a:off x="13468350" y="4657725"/>
            <a:ext cx="19050" cy="19050"/>
          </a:xfrm>
          <a:prstGeom xmlns:a="http://schemas.openxmlformats.org/drawingml/2006/main" prst="rect">
            <a:avLst/>
          </a:prstGeom>
          <a:noFill xmlns:a="http://schemas.openxmlformats.org/drawingml/2006/main"/>
          <a:ln xmlns:a="http://schemas.openxmlformats.org/drawingml/2006/main" w="0">
            <a:noFill/>
          </a:ln>
        </p:spPr>
      </p:sp>
      <p:cxnSp>
        <p:nvCxnSpPr>
          <p:cNvPr id="91" name=""/>
          <p:cNvCxnSpPr>
            <a:stCxn xmlns:a="http://schemas.openxmlformats.org/drawingml/2006/main" id="18" idx="3"/>
            <a:endCxn xmlns:a="http://schemas.openxmlformats.org/drawingml/2006/main" id="35" idx="1"/>
          </p:cNvCxnSpPr>
          <p:nvPr/>
        </p:nvCxnSpPr>
        <p:spPr>
          <a:xfrm xmlns:a="http://schemas.openxmlformats.org/drawingml/2006/main" flipV="1">
            <a:off x="14859000" y="6305550"/>
            <a:ext cx="276225" cy="4763"/>
          </a:xfrm>
          <a:prstGeom xmlns:a="http://schemas.openxmlformats.org/drawingml/2006/main" prst="straightConnector1">
            <a:avLst/>
          </a:prstGeom>
          <a:ln xmlns:a="http://schemas.openxmlformats.org/drawingml/2006/main" w="22860">
            <a:solidFill>
              <a:srgbClr val="13756C"/>
            </a:solidFill>
            <a:prstDash val="solid"/>
            <a:tailEnd type="none" w="med" len="med"/>
          </a:ln>
        </p:spPr>
      </p:cxnSp>
      <p:cxnSp>
        <p:nvCxnSpPr>
          <p:cNvPr id="92" name=""/>
          <p:cNvCxnSpPr>
            <a:stCxn xmlns:a="http://schemas.openxmlformats.org/drawingml/2006/main" id="35" idx="0"/>
            <a:endCxn xmlns:a="http://schemas.openxmlformats.org/drawingml/2006/main" id="36" idx="2"/>
          </p:cNvCxnSpPr>
          <p:nvPr/>
        </p:nvCxnSpPr>
        <p:spPr>
          <a:xfrm xmlns:a="http://schemas.openxmlformats.org/drawingml/2006/main" flipV="1">
            <a:off x="15144750" y="4676775"/>
            <a:ext cx="0" cy="1619250"/>
          </a:xfrm>
          <a:prstGeom xmlns:a="http://schemas.openxmlformats.org/drawingml/2006/main" prst="straightConnector1">
            <a:avLst/>
          </a:prstGeom>
          <a:ln xmlns:a="http://schemas.openxmlformats.org/drawingml/2006/main" w="22860">
            <a:solidFill>
              <a:srgbClr val="13756C"/>
            </a:solidFill>
            <a:prstDash val="solid"/>
            <a:tailEnd type="none" w="med" len="med"/>
          </a:ln>
        </p:spPr>
      </p:cxnSp>
      <p:cxnSp>
        <p:nvCxnSpPr>
          <p:cNvPr id="93" name=""/>
          <p:cNvCxnSpPr>
            <a:stCxn xmlns:a="http://schemas.openxmlformats.org/drawingml/2006/main" id="36" idx="1"/>
            <a:endCxn xmlns:a="http://schemas.openxmlformats.org/drawingml/2006/main" id="37" idx="3"/>
          </p:cNvCxnSpPr>
          <p:nvPr/>
        </p:nvCxnSpPr>
        <p:spPr>
          <a:xfrm xmlns:a="http://schemas.openxmlformats.org/drawingml/2006/main" flipH="1">
            <a:off x="13487400" y="4667250"/>
            <a:ext cx="1647825" cy="0"/>
          </a:xfrm>
          <a:prstGeom xmlns:a="http://schemas.openxmlformats.org/drawingml/2006/main" prst="straightConnector1">
            <a:avLst/>
          </a:prstGeom>
          <a:ln xmlns:a="http://schemas.openxmlformats.org/drawingml/2006/main" w="22860">
            <a:solidFill>
              <a:srgbClr val="13756C"/>
            </a:solidFill>
            <a:prstDash val="solid"/>
            <a:tailEnd type="none" w="med" len="med"/>
          </a:ln>
        </p:spPr>
      </p:cxnSp>
      <p:cxnSp>
        <p:nvCxnSpPr>
          <p:cNvPr id="94" name=""/>
          <p:cNvCxnSpPr>
            <a:stCxn xmlns:a="http://schemas.openxmlformats.org/drawingml/2006/main" id="37" idx="0"/>
            <a:endCxn xmlns:a="http://schemas.openxmlformats.org/drawingml/2006/main" id="9" idx="2"/>
          </p:cNvCxnSpPr>
          <p:nvPr/>
        </p:nvCxnSpPr>
        <p:spPr>
          <a:xfrm xmlns:a="http://schemas.openxmlformats.org/drawingml/2006/main" flipV="1">
            <a:off x="13477875" y="4286250"/>
            <a:ext cx="0" cy="371475"/>
          </a:xfrm>
          <a:prstGeom xmlns:a="http://schemas.openxmlformats.org/drawingml/2006/main" prst="straightConnector1">
            <a:avLst/>
          </a:prstGeom>
          <a:ln xmlns:a="http://schemas.openxmlformats.org/drawingml/2006/main" w="22860">
            <a:solidFill>
              <a:srgbClr val="13756C"/>
            </a:solidFill>
            <a:prstDash val="solid"/>
            <a:tailEnd type="triangle" w="med" len="med"/>
          </a:ln>
        </p:spPr>
      </p:cxnSp>
      <p:sp>
        <p:nvSpPr>
          <p:cNvPr id="42" name="Stop decision label">
            <a:extLst xmlns:a="http://schemas.openxmlformats.org/drawingml/2006/main">
              <a:ext uri="{FF2B5EF4-FFF2-40B4-BE49-F238E27FC236}">
                <a16:creationId xmlns:a16="http://schemas.microsoft.com/office/drawing/2014/main" id="{C5C060C1-E7DB-4CB0-94C3-198B6CB2EB04}"/>
              </a:ext>
            </a:extLst>
          </p:cNvPr>
          <p:cNvSpPr>
            <a:spLocks xmlns:a="http://schemas.openxmlformats.org/drawingml/2006/main" noGrp="1"/>
          </p:cNvSpPr>
          <p:nvPr/>
        </p:nvSpPr>
        <p:spPr>
          <a:xfrm xmlns:a="http://schemas.openxmlformats.org/drawingml/2006/main">
            <a:off x="13620750" y="4210050"/>
            <a:ext cx="857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19050" tIns="19050" rIns="19050" bIns="19050" anchor="ctr">
            <a:noAutofit/>
          </a:bodyPr>
          <a:lstStyle xmlns:a="http://schemas.openxmlformats.org/drawingml/2006/main"/>
          <a:p xmlns:a="http://schemas.openxmlformats.org/drawingml/2006/main">
            <a:pPr algn="ctr">
              <a:defRPr sz="2100">
                <a:solidFill>
                  <a:srgbClr val="13756C"/>
                </a:solidFill>
                <a:latin typeface="Arial"/>
                <a:ea typeface="Arial"/>
                <a:cs typeface="Arial"/>
              </a:defRPr>
            </a:pPr>
            <a:r>
              <a:rPr sz="2100">
                <a:solidFill>
                  <a:srgbClr val="13756C"/>
                </a:solidFill>
                <a:latin typeface="Arial"/>
                <a:ea typeface="Arial"/>
                <a:cs typeface="Arial"/>
              </a:rPr>
              <a:t>Yes</a:t>
            </a:r>
          </a:p>
        </p:txBody>
      </p:sp>
      <p:sp>
        <p:nvSpPr>
          <p:cNvPr id="43" name="Connector anchor 12">
            <a:extLst xmlns:a="http://schemas.openxmlformats.org/drawingml/2006/main">
              <a:ext uri="{FF2B5EF4-FFF2-40B4-BE49-F238E27FC236}">
                <a16:creationId xmlns:a16="http://schemas.microsoft.com/office/drawing/2014/main" id="{166ED08C-D4C0-455A-B165-4AEC18564896}"/>
              </a:ext>
            </a:extLst>
          </p:cNvPr>
          <p:cNvSpPr>
            <a:spLocks xmlns:a="http://schemas.openxmlformats.org/drawingml/2006/main" noGrp="1"/>
          </p:cNvSpPr>
          <p:nvPr/>
        </p:nvSpPr>
        <p:spPr>
          <a:xfrm xmlns:a="http://schemas.openxmlformats.org/drawingml/2006/main">
            <a:off x="11563350" y="7610475"/>
            <a:ext cx="19050" cy="19050"/>
          </a:xfrm>
          <a:prstGeom xmlns:a="http://schemas.openxmlformats.org/drawingml/2006/main" prst="rect">
            <a:avLst/>
          </a:prstGeom>
          <a:noFill xmlns:a="http://schemas.openxmlformats.org/drawingml/2006/main"/>
          <a:ln xmlns:a="http://schemas.openxmlformats.org/drawingml/2006/main" w="0">
            <a:noFill/>
          </a:ln>
        </p:spPr>
      </p:sp>
      <p:sp>
        <p:nvSpPr>
          <p:cNvPr id="44" name="Connector anchor 13">
            <a:extLst xmlns:a="http://schemas.openxmlformats.org/drawingml/2006/main">
              <a:ext uri="{FF2B5EF4-FFF2-40B4-BE49-F238E27FC236}">
                <a16:creationId xmlns:a16="http://schemas.microsoft.com/office/drawing/2014/main" id="{31C245AC-72BF-461A-B2D8-27819A2EBCFE}"/>
              </a:ext>
            </a:extLst>
          </p:cNvPr>
          <p:cNvSpPr>
            <a:spLocks xmlns:a="http://schemas.openxmlformats.org/drawingml/2006/main" noGrp="1"/>
          </p:cNvSpPr>
          <p:nvPr/>
        </p:nvSpPr>
        <p:spPr>
          <a:xfrm xmlns:a="http://schemas.openxmlformats.org/drawingml/2006/main">
            <a:off x="7515225" y="7610475"/>
            <a:ext cx="19050" cy="19050"/>
          </a:xfrm>
          <a:prstGeom xmlns:a="http://schemas.openxmlformats.org/drawingml/2006/main" prst="rect">
            <a:avLst/>
          </a:prstGeom>
          <a:noFill xmlns:a="http://schemas.openxmlformats.org/drawingml/2006/main"/>
          <a:ln xmlns:a="http://schemas.openxmlformats.org/drawingml/2006/main" w="0">
            <a:noFill/>
          </a:ln>
        </p:spPr>
      </p:sp>
      <p:sp>
        <p:nvSpPr>
          <p:cNvPr id="45" name="Connector anchor 14">
            <a:extLst xmlns:a="http://schemas.openxmlformats.org/drawingml/2006/main">
              <a:ext uri="{FF2B5EF4-FFF2-40B4-BE49-F238E27FC236}">
                <a16:creationId xmlns:a16="http://schemas.microsoft.com/office/drawing/2014/main" id="{51180D70-CEE5-4A82-96FE-1901751D3121}"/>
              </a:ext>
            </a:extLst>
          </p:cNvPr>
          <p:cNvSpPr>
            <a:spLocks xmlns:a="http://schemas.openxmlformats.org/drawingml/2006/main" noGrp="1"/>
          </p:cNvSpPr>
          <p:nvPr/>
        </p:nvSpPr>
        <p:spPr>
          <a:xfrm xmlns:a="http://schemas.openxmlformats.org/drawingml/2006/main">
            <a:off x="7515225" y="4610100"/>
            <a:ext cx="19050" cy="19050"/>
          </a:xfrm>
          <a:prstGeom xmlns:a="http://schemas.openxmlformats.org/drawingml/2006/main" prst="rect">
            <a:avLst/>
          </a:prstGeom>
          <a:noFill xmlns:a="http://schemas.openxmlformats.org/drawingml/2006/main"/>
          <a:ln xmlns:a="http://schemas.openxmlformats.org/drawingml/2006/main" w="0">
            <a:noFill/>
          </a:ln>
        </p:spPr>
      </p:sp>
      <p:sp>
        <p:nvSpPr>
          <p:cNvPr id="46" name="Connector anchor 15">
            <a:extLst xmlns:a="http://schemas.openxmlformats.org/drawingml/2006/main">
              <a:ext uri="{FF2B5EF4-FFF2-40B4-BE49-F238E27FC236}">
                <a16:creationId xmlns:a16="http://schemas.microsoft.com/office/drawing/2014/main" id="{68E9E1F3-DB76-477C-8383-2B84243761BD}"/>
              </a:ext>
            </a:extLst>
          </p:cNvPr>
          <p:cNvSpPr>
            <a:spLocks xmlns:a="http://schemas.openxmlformats.org/drawingml/2006/main" noGrp="1"/>
          </p:cNvSpPr>
          <p:nvPr/>
        </p:nvSpPr>
        <p:spPr>
          <a:xfrm xmlns:a="http://schemas.openxmlformats.org/drawingml/2006/main">
            <a:off x="5895975" y="4610100"/>
            <a:ext cx="19050" cy="19050"/>
          </a:xfrm>
          <a:prstGeom xmlns:a="http://schemas.openxmlformats.org/drawingml/2006/main" prst="rect">
            <a:avLst/>
          </a:prstGeom>
          <a:noFill xmlns:a="http://schemas.openxmlformats.org/drawingml/2006/main"/>
          <a:ln xmlns:a="http://schemas.openxmlformats.org/drawingml/2006/main" w="0">
            <a:noFill/>
          </a:ln>
        </p:spPr>
      </p:sp>
      <p:cxnSp>
        <p:nvCxnSpPr>
          <p:cNvPr id="100" name=""/>
          <p:cNvCxnSpPr>
            <a:stCxn xmlns:a="http://schemas.openxmlformats.org/drawingml/2006/main" id="18" idx="2"/>
            <a:endCxn xmlns:a="http://schemas.openxmlformats.org/drawingml/2006/main" id="43" idx="0"/>
          </p:cNvCxnSpPr>
          <p:nvPr/>
        </p:nvCxnSpPr>
        <p:spPr>
          <a:xfrm xmlns:a="http://schemas.openxmlformats.org/drawingml/2006/main">
            <a:off x="11572875" y="7143750"/>
            <a:ext cx="0" cy="466725"/>
          </a:xfrm>
          <a:prstGeom xmlns:a="http://schemas.openxmlformats.org/drawingml/2006/main" prst="straightConnector1">
            <a:avLst/>
          </a:prstGeom>
          <a:ln xmlns:a="http://schemas.openxmlformats.org/drawingml/2006/main" w="22860">
            <a:solidFill>
              <a:srgbClr val="8D580C"/>
            </a:solidFill>
            <a:prstDash val="solid"/>
            <a:tailEnd type="none" w="med" len="med"/>
          </a:ln>
        </p:spPr>
      </p:cxnSp>
      <p:cxnSp>
        <p:nvCxnSpPr>
          <p:cNvPr id="101" name=""/>
          <p:cNvCxnSpPr>
            <a:stCxn xmlns:a="http://schemas.openxmlformats.org/drawingml/2006/main" id="43" idx="1"/>
            <a:endCxn xmlns:a="http://schemas.openxmlformats.org/drawingml/2006/main" id="44" idx="3"/>
          </p:cNvCxnSpPr>
          <p:nvPr/>
        </p:nvCxnSpPr>
        <p:spPr>
          <a:xfrm xmlns:a="http://schemas.openxmlformats.org/drawingml/2006/main" flipH="1">
            <a:off x="7534275" y="7620000"/>
            <a:ext cx="4029075" cy="0"/>
          </a:xfrm>
          <a:prstGeom xmlns:a="http://schemas.openxmlformats.org/drawingml/2006/main" prst="straightConnector1">
            <a:avLst/>
          </a:prstGeom>
          <a:ln xmlns:a="http://schemas.openxmlformats.org/drawingml/2006/main" w="22860">
            <a:solidFill>
              <a:srgbClr val="8D580C"/>
            </a:solidFill>
            <a:prstDash val="solid"/>
            <a:tailEnd type="none" w="med" len="med"/>
          </a:ln>
        </p:spPr>
      </p:cxnSp>
      <p:cxnSp>
        <p:nvCxnSpPr>
          <p:cNvPr id="102" name=""/>
          <p:cNvCxnSpPr>
            <a:stCxn xmlns:a="http://schemas.openxmlformats.org/drawingml/2006/main" id="44" idx="0"/>
            <a:endCxn xmlns:a="http://schemas.openxmlformats.org/drawingml/2006/main" id="45" idx="2"/>
          </p:cNvCxnSpPr>
          <p:nvPr/>
        </p:nvCxnSpPr>
        <p:spPr>
          <a:xfrm xmlns:a="http://schemas.openxmlformats.org/drawingml/2006/main" flipV="1">
            <a:off x="7524750" y="4629150"/>
            <a:ext cx="0" cy="2981325"/>
          </a:xfrm>
          <a:prstGeom xmlns:a="http://schemas.openxmlformats.org/drawingml/2006/main" prst="straightConnector1">
            <a:avLst/>
          </a:prstGeom>
          <a:ln xmlns:a="http://schemas.openxmlformats.org/drawingml/2006/main" w="22860">
            <a:solidFill>
              <a:srgbClr val="8D580C"/>
            </a:solidFill>
            <a:prstDash val="solid"/>
            <a:tailEnd type="none" w="med" len="med"/>
          </a:ln>
        </p:spPr>
      </p:cxnSp>
      <p:cxnSp>
        <p:nvCxnSpPr>
          <p:cNvPr id="103" name=""/>
          <p:cNvCxnSpPr>
            <a:stCxn xmlns:a="http://schemas.openxmlformats.org/drawingml/2006/main" id="45" idx="1"/>
            <a:endCxn xmlns:a="http://schemas.openxmlformats.org/drawingml/2006/main" id="46" idx="3"/>
          </p:cNvCxnSpPr>
          <p:nvPr/>
        </p:nvCxnSpPr>
        <p:spPr>
          <a:xfrm xmlns:a="http://schemas.openxmlformats.org/drawingml/2006/main" flipH="1">
            <a:off x="5915025" y="4619625"/>
            <a:ext cx="1600200" cy="0"/>
          </a:xfrm>
          <a:prstGeom xmlns:a="http://schemas.openxmlformats.org/drawingml/2006/main" prst="straightConnector1">
            <a:avLst/>
          </a:prstGeom>
          <a:ln xmlns:a="http://schemas.openxmlformats.org/drawingml/2006/main" w="22860">
            <a:solidFill>
              <a:srgbClr val="8D580C"/>
            </a:solidFill>
            <a:prstDash val="solid"/>
            <a:tailEnd type="none" w="med" len="med"/>
          </a:ln>
        </p:spPr>
      </p:cxnSp>
      <p:cxnSp>
        <p:nvCxnSpPr>
          <p:cNvPr id="104" name=""/>
          <p:cNvCxnSpPr>
            <a:stCxn xmlns:a="http://schemas.openxmlformats.org/drawingml/2006/main" id="46" idx="0"/>
            <a:endCxn xmlns:a="http://schemas.openxmlformats.org/drawingml/2006/main" id="7" idx="2"/>
          </p:cNvCxnSpPr>
          <p:nvPr/>
        </p:nvCxnSpPr>
        <p:spPr>
          <a:xfrm xmlns:a="http://schemas.openxmlformats.org/drawingml/2006/main" flipV="1">
            <a:off x="5905500" y="4286250"/>
            <a:ext cx="0" cy="323850"/>
          </a:xfrm>
          <a:prstGeom xmlns:a="http://schemas.openxmlformats.org/drawingml/2006/main" prst="straightConnector1">
            <a:avLst/>
          </a:prstGeom>
          <a:ln xmlns:a="http://schemas.openxmlformats.org/drawingml/2006/main" w="22860">
            <a:solidFill>
              <a:srgbClr val="8D580C"/>
            </a:solidFill>
            <a:prstDash val="solid"/>
            <a:tailEnd type="triangle" w="med" len="med"/>
          </a:ln>
        </p:spPr>
      </p:cxnSp>
      <p:sp>
        <p:nvSpPr>
          <p:cNvPr id="52" name="Continue decision label">
            <a:extLst xmlns:a="http://schemas.openxmlformats.org/drawingml/2006/main">
              <a:ext uri="{FF2B5EF4-FFF2-40B4-BE49-F238E27FC236}">
                <a16:creationId xmlns:a16="http://schemas.microsoft.com/office/drawing/2014/main" id="{A52EFED3-3A02-4D76-9801-49499DEEE3FF}"/>
              </a:ext>
            </a:extLst>
          </p:cNvPr>
          <p:cNvSpPr>
            <a:spLocks xmlns:a="http://schemas.openxmlformats.org/drawingml/2006/main" noGrp="1"/>
          </p:cNvSpPr>
          <p:nvPr/>
        </p:nvSpPr>
        <p:spPr>
          <a:xfrm xmlns:a="http://schemas.openxmlformats.org/drawingml/2006/main">
            <a:off x="7477125" y="7629525"/>
            <a:ext cx="4000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19050" tIns="19050" rIns="19050" bIns="19050" anchor="ctr">
            <a:noAutofit/>
          </a:bodyPr>
          <a:lstStyle xmlns:a="http://schemas.openxmlformats.org/drawingml/2006/main"/>
          <a:p xmlns:a="http://schemas.openxmlformats.org/drawingml/2006/main">
            <a:pPr algn="ctr">
              <a:defRPr sz="2175">
                <a:solidFill>
                  <a:srgbClr val="8D580C"/>
                </a:solidFill>
                <a:latin typeface="Arial"/>
                <a:ea typeface="Arial"/>
                <a:cs typeface="Arial"/>
              </a:defRPr>
            </a:pPr>
            <a:r>
              <a:rPr sz="2175">
                <a:solidFill>
                  <a:srgbClr val="8D580C"/>
                </a:solidFill>
                <a:latin typeface="Arial"/>
                <a:ea typeface="Arial"/>
                <a:cs typeface="Arial"/>
              </a:rPr>
              <a:t>No: next query batch</a:t>
            </a:r>
          </a:p>
        </p:txBody>
      </p:sp>
      <p:sp>
        <p:nvSpPr>
          <p:cNvPr id="53" name="Guarantee scope">
            <a:extLst xmlns:a="http://schemas.openxmlformats.org/drawingml/2006/main">
              <a:ext uri="{FF2B5EF4-FFF2-40B4-BE49-F238E27FC236}">
                <a16:creationId xmlns:a16="http://schemas.microsoft.com/office/drawing/2014/main" id="{B08A9028-5448-490D-AB24-C71231C1276F}"/>
              </a:ext>
            </a:extLst>
          </p:cNvPr>
          <p:cNvSpPr>
            <a:spLocks xmlns:a="http://schemas.openxmlformats.org/drawingml/2006/main" noGrp="1"/>
          </p:cNvSpPr>
          <p:nvPr/>
        </p:nvSpPr>
        <p:spPr>
          <a:xfrm xmlns:a="http://schemas.openxmlformats.org/drawingml/2006/main">
            <a:off x="619125" y="8096250"/>
            <a:ext cx="14001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19050" tIns="19050" rIns="19050" bIns="19050" anchor="ctr">
            <a:noAutofit/>
          </a:bodyPr>
          <a:lstStyle xmlns:a="http://schemas.openxmlformats.org/drawingml/2006/main"/>
          <a:p xmlns:a="http://schemas.openxmlformats.org/drawingml/2006/main">
            <a:pPr algn="ctr">
              <a:defRPr sz="2250">
                <a:solidFill>
                  <a:srgbClr val="1B2D3B"/>
                </a:solidFill>
                <a:latin typeface="Arial"/>
                <a:ea typeface="Arial"/>
                <a:cs typeface="Arial"/>
              </a:defRPr>
            </a:pPr>
            <a:r>
              <a:rPr sz="2250">
                <a:solidFill>
                  <a:srgbClr val="1B2D3B"/>
                </a:solidFill>
                <a:latin typeface="Arial"/>
                <a:ea typeface="Arial"/>
                <a:cs typeface="Arial"/>
              </a:rPr>
              <a:t>With probability ≥ 1 − δ over label-query order:</a:t>
            </a:r>
          </a:p>
          <a:p xmlns:a="http://schemas.openxmlformats.org/drawingml/2006/main">
            <a:pPr algn="ctr">
              <a:defRPr sz="2250">
                <a:solidFill>
                  <a:srgbClr val="1B2D3B"/>
                </a:solidFill>
                <a:latin typeface="Arial"/>
                <a:ea typeface="Arial"/>
                <a:cs typeface="Arial"/>
              </a:defRPr>
            </a:pPr>
            <a:r>
              <a:rPr sz="2250">
                <a:solidFill>
                  <a:srgbClr val="1B2D3B"/>
                </a:solidFill>
                <a:latin typeface="Arial"/>
                <a:ea typeface="Arial"/>
                <a:cs typeface="Arial"/>
              </a:rPr>
              <a:t>C(x; qref) ⊆ C(x; Uₜ) for every x; mean extra labels ≤ τ on the target batch</a:t>
            </a:r>
          </a:p>
        </p:txBody>
      </p:sp>
    </p:spTree>
    <p:extLst>
      <p:ext uri="{BB962C8B-B14F-4D97-AF65-F5344CB8AC3E}">
        <p14:creationId xmlns:p14="http://schemas.microsoft.com/office/powerpoint/2010/main" val="71276949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2026-09-13T12:56:52.1990000Z</dcterms:created>
  <dcterms:modified xsi:type="dcterms:W3CDTF">2026-09-13T12:56:52.1990000Z</dcterms:modified>
</coreProperties>
</file>