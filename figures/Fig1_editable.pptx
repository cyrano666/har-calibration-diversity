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76d67774cfe4bb7" /><Relationship Type="http://schemas.openxmlformats.org/officeDocument/2006/relationships/extended-properties" Target="/docProps/app.xml" Id="R9bc693b6ea79412d" /><Relationship Type="http://schemas.openxmlformats.org/officeDocument/2006/relationships/officeDocument" Target="/ppt/presentation.xml" Id="R065e2f7d731b48fa" /></Relationships>
</file>

<file path=ppt/presentation.xml><?xml version="1.0" encoding="utf-8"?>
<p:presentation xmlns:p="http://schemas.openxmlformats.org/presentationml/2006/main">
  <p:sldMasterIdLst>
    <p:sldMasterId xmlns:r="http://schemas.openxmlformats.org/officeDocument/2006/relationships" id="2147483648" r:id="R3711ee2778ce4633"/>
  </p:sldMasterIdLst>
  <p:notesMasterIdLst>
    <p:notesMasterId xmlns:r="http://schemas.openxmlformats.org/officeDocument/2006/relationships" r:id="R5015220a2b304e5d"/>
  </p:notesMasterIdLst>
  <p:sldIdLst>
    <p:sldId xmlns:r="http://schemas.openxmlformats.org/officeDocument/2006/relationships" id="256" r:id="Rf87e30dfcc644cb7"/>
  </p:sldIdLst>
  <p:sldSz cx="15240000" cy="895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dc0e022cb4b4756" /><Relationship Type="http://schemas.openxmlformats.org/officeDocument/2006/relationships/slideMaster" Target="/ppt/slideMasters/slideMaster1.xml" Id="R3711ee2778ce4633" /><Relationship Type="http://schemas.openxmlformats.org/officeDocument/2006/relationships/notesMaster" Target="/ppt/notesMasters/notesMaster1.xml" Id="R5015220a2b304e5d" /><Relationship Type="http://schemas.openxmlformats.org/officeDocument/2006/relationships/presProps" Target="/ppt/presProps.xml" Id="R9fef968110594886" /><Relationship Type="http://schemas.openxmlformats.org/officeDocument/2006/relationships/tableStyles" Target="/ppt/tableStyles.xml" Id="R6a611ae7d5a14e42" /><Relationship Type="http://schemas.openxmlformats.org/officeDocument/2006/relationships/slide" Target="/ppt/slides/slide1.xml" Id="Rf87e30dfcc644cb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a71a7e9f754c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038c5ad4d4c475f" /><Relationship Type="http://schemas.openxmlformats.org/officeDocument/2006/relationships/notesMaster" Target="/ppt/notesMasters/notesMaster1.xml" Id="Re02f722e8649447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Overall architecture of horizon-calibrated finite-pool reference-set emulation. Original scientific diagram based on work/revision6/protocol.json, horizon.py and sequential.py. The trained classifier is frozen. L and U in this diagram denote the running lower and upper bounds; D_t is the stopping statistic in manuscript Eq.9. Calibration/test participant IDs are disjoint from training and each other. The monitoring batch supplies inputs and all class scores, never true labels, to the stopping rule. Label queries follow a uniform random permutation of a fixed reference pool. Offline DP boundaries depend only on pool size, reference rank, confidence error and declared checkpoints. At census the full reference quantile is known exactly. The guarantee preserves the reference predictor; it does not establish new 90-percent coverage under subject shift. True test labels are used only in subsequent evaluation and are intentionally outside this algorithm diagram. Native PowerPoint text, shapes and connectors are editable.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be6766309fc425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bfe3561b1814378" /><Relationship Type="http://schemas.openxmlformats.org/officeDocument/2006/relationships/slideLayout" Target="/ppt/slideLayouts/slideLayout1.xml" Id="R011947bfee3046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11947bfee3046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117f10c869a4a69" /><Relationship Type="http://schemas.openxmlformats.org/officeDocument/2006/relationships/notesSlide" Target="/ppt/notesSlides/notesSlide1.xml" Id="Rdb9b47549cfd4e6a"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 name="Training participants">
            <a:extLst xmlns:a="http://schemas.openxmlformats.org/drawingml/2006/main">
              <a:ext uri="{FF2B5EF4-FFF2-40B4-BE49-F238E27FC236}">
                <a16:creationId xmlns:a16="http://schemas.microsoft.com/office/drawing/2014/main" id="{AA3A485E-1A52-4072-8769-FB7DE28471F5}"/>
              </a:ext>
            </a:extLst>
          </p:cNvPr>
          <p:cNvSpPr>
            <a:spLocks xmlns:a="http://schemas.openxmlformats.org/drawingml/2006/main" noGrp="1"/>
          </p:cNvSpPr>
          <p:nvPr/>
        </p:nvSpPr>
        <p:spPr>
          <a:xfrm xmlns:a="http://schemas.openxmlformats.org/drawingml/2006/main">
            <a:off x="381000" y="333375"/>
            <a:ext cx="3333750" cy="1143000"/>
          </a:xfrm>
          <a:prstGeom xmlns:a="http://schemas.openxmlformats.org/drawingml/2006/main" prst="rect">
            <a:avLst/>
          </a:prstGeom>
          <a:solidFill xmlns:a="http://schemas.openxmlformats.org/drawingml/2006/main">
            <a:srgbClr val="EFF5FA"/>
          </a:solidFill>
          <a:ln xmlns:a="http://schemas.openxmlformats.org/drawingml/2006/main" w="19050">
            <a:solidFill>
              <a:srgbClr val="255E8D"/>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325">
                <a:solidFill>
                  <a:srgbClr val="1B2D3B"/>
                </a:solidFill>
                <a:latin typeface="Arial"/>
                <a:ea typeface="Arial"/>
                <a:cs typeface="Arial"/>
              </a:defRPr>
            </a:pPr>
            <a:r>
              <a:rPr sz="2325">
                <a:solidFill>
                  <a:srgbClr val="1B2D3B"/>
                </a:solidFill>
                <a:latin typeface="Arial"/>
                <a:ea typeface="Arial"/>
                <a:cs typeface="Arial"/>
              </a:rPr>
              <a:t>Training participants</a:t>
            </a:r>
          </a:p>
          <a:p xmlns:a="http://schemas.openxmlformats.org/drawingml/2006/main">
            <a:pPr algn="ctr">
              <a:defRPr sz="2325">
                <a:solidFill>
                  <a:srgbClr val="1B2D3B"/>
                </a:solidFill>
                <a:latin typeface="Arial"/>
                <a:ea typeface="Arial"/>
                <a:cs typeface="Arial"/>
              </a:defRPr>
            </a:pPr>
            <a:r>
              <a:rPr sz="2325">
                <a:solidFill>
                  <a:srgbClr val="1B2D3B"/>
                </a:solidFill>
                <a:latin typeface="Arial"/>
                <a:ea typeface="Arial"/>
                <a:cs typeface="Arial"/>
              </a:rPr>
              <a:t>Signals and labels</a:t>
            </a:r>
          </a:p>
        </p:txBody>
      </p:sp>
      <p:sp>
        <p:nvSpPr>
          <p:cNvPr id="2" name="Frozen recognition model">
            <a:extLst xmlns:a="http://schemas.openxmlformats.org/drawingml/2006/main">
              <a:ext uri="{FF2B5EF4-FFF2-40B4-BE49-F238E27FC236}">
                <a16:creationId xmlns:a16="http://schemas.microsoft.com/office/drawing/2014/main" id="{86F48E3E-5AFE-4ECF-83E7-F37B9A9A7092}"/>
              </a:ext>
            </a:extLst>
          </p:cNvPr>
          <p:cNvSpPr>
            <a:spLocks xmlns:a="http://schemas.openxmlformats.org/drawingml/2006/main" noGrp="1"/>
          </p:cNvSpPr>
          <p:nvPr/>
        </p:nvSpPr>
        <p:spPr>
          <a:xfrm xmlns:a="http://schemas.openxmlformats.org/drawingml/2006/main">
            <a:off x="4476750" y="333375"/>
            <a:ext cx="2857500" cy="1143000"/>
          </a:xfrm>
          <a:prstGeom xmlns:a="http://schemas.openxmlformats.org/drawingml/2006/main" prst="rect">
            <a:avLst/>
          </a:prstGeom>
          <a:solidFill xmlns:a="http://schemas.openxmlformats.org/drawingml/2006/main">
            <a:srgbClr val="EFF5FA"/>
          </a:solidFill>
          <a:ln xmlns:a="http://schemas.openxmlformats.org/drawingml/2006/main" w="19050">
            <a:solidFill>
              <a:srgbClr val="255E8D"/>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325">
                <a:solidFill>
                  <a:srgbClr val="1B2D3B"/>
                </a:solidFill>
                <a:latin typeface="Arial"/>
                <a:ea typeface="Arial"/>
                <a:cs typeface="Arial"/>
              </a:defRPr>
            </a:pPr>
            <a:r>
              <a:rPr sz="2325">
                <a:solidFill>
                  <a:srgbClr val="1B2D3B"/>
                </a:solidFill>
                <a:latin typeface="Arial"/>
                <a:ea typeface="Arial"/>
                <a:cs typeface="Arial"/>
              </a:rPr>
              <a:t>Frozen classifier f</a:t>
            </a:r>
          </a:p>
          <a:p xmlns:a="http://schemas.openxmlformats.org/drawingml/2006/main">
            <a:pPr algn="ctr">
              <a:defRPr sz="2325">
                <a:solidFill>
                  <a:srgbClr val="1B2D3B"/>
                </a:solidFill>
                <a:latin typeface="Arial"/>
                <a:ea typeface="Arial"/>
                <a:cs typeface="Arial"/>
              </a:defRPr>
            </a:pPr>
            <a:r>
              <a:rPr sz="2325">
                <a:solidFill>
                  <a:srgbClr val="1B2D3B"/>
                </a:solidFill>
                <a:latin typeface="Arial"/>
                <a:ea typeface="Arial"/>
                <a:cs typeface="Arial"/>
              </a:rPr>
              <a:t>LR / MiniRocket / IT</a:t>
            </a:r>
          </a:p>
        </p:txBody>
      </p:sp>
      <p:sp>
        <p:nvSpPr>
          <p:cNvPr id="3" name="Unlabeled monitoring batch">
            <a:extLst xmlns:a="http://schemas.openxmlformats.org/drawingml/2006/main">
              <a:ext uri="{FF2B5EF4-FFF2-40B4-BE49-F238E27FC236}">
                <a16:creationId xmlns:a16="http://schemas.microsoft.com/office/drawing/2014/main" id="{AABF0A70-B277-4236-9A7C-7256B720F5CB}"/>
              </a:ext>
            </a:extLst>
          </p:cNvPr>
          <p:cNvSpPr>
            <a:spLocks xmlns:a="http://schemas.openxmlformats.org/drawingml/2006/main" noGrp="1"/>
          </p:cNvSpPr>
          <p:nvPr/>
        </p:nvSpPr>
        <p:spPr>
          <a:xfrm xmlns:a="http://schemas.openxmlformats.org/drawingml/2006/main">
            <a:off x="8286750" y="333375"/>
            <a:ext cx="6572250" cy="1143000"/>
          </a:xfrm>
          <a:prstGeom xmlns:a="http://schemas.openxmlformats.org/drawingml/2006/main" prst="rect">
            <a:avLst/>
          </a:prstGeom>
          <a:solidFill xmlns:a="http://schemas.openxmlformats.org/drawingml/2006/main">
            <a:srgbClr val="EFF5FA"/>
          </a:solidFill>
          <a:ln xmlns:a="http://schemas.openxmlformats.org/drawingml/2006/main" w="19050">
            <a:solidFill>
              <a:srgbClr val="255E8D"/>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325">
                <a:solidFill>
                  <a:srgbClr val="1B2D3B"/>
                </a:solidFill>
                <a:latin typeface="Arial"/>
                <a:ea typeface="Arial"/>
                <a:cs typeface="Arial"/>
              </a:defRPr>
            </a:pPr>
            <a:r>
              <a:rPr sz="2325">
                <a:solidFill>
                  <a:srgbClr val="1B2D3B"/>
                </a:solidFill>
                <a:latin typeface="Arial"/>
                <a:ea typeface="Arial"/>
                <a:cs typeface="Arial"/>
              </a:rPr>
              <a:t>Monitoring batch: inputs only</a:t>
            </a:r>
          </a:p>
          <a:p xmlns:a="http://schemas.openxmlformats.org/drawingml/2006/main">
            <a:pPr algn="ctr">
              <a:defRPr sz="2325">
                <a:solidFill>
                  <a:srgbClr val="1B2D3B"/>
                </a:solidFill>
                <a:latin typeface="Arial"/>
                <a:ea typeface="Arial"/>
                <a:cs typeface="Arial"/>
              </a:defRPr>
            </a:pPr>
            <a:r>
              <a:rPr sz="2325">
                <a:solidFill>
                  <a:srgbClr val="1B2D3B"/>
                </a:solidFill>
                <a:latin typeface="Arial"/>
                <a:ea typeface="Arial"/>
                <a:cs typeface="Arial"/>
              </a:rPr>
              <a:t>All candidate-label scores s(x,y)</a:t>
            </a:r>
          </a:p>
        </p:txBody>
      </p:sp>
      <p:cxnSp>
        <p:nvCxnSpPr>
          <p:cNvPr id="60" name=""/>
          <p:cNvCxnSpPr>
            <a:stCxn xmlns:a="http://schemas.openxmlformats.org/drawingml/2006/main" id="1" idx="3"/>
            <a:endCxn xmlns:a="http://schemas.openxmlformats.org/drawingml/2006/main" id="2" idx="1"/>
          </p:cNvCxnSpPr>
          <p:nvPr/>
        </p:nvCxnSpPr>
        <p:spPr>
          <a:xfrm xmlns:a="http://schemas.openxmlformats.org/drawingml/2006/main">
            <a:off x="3714750" y="904875"/>
            <a:ext cx="762000" cy="0"/>
          </a:xfrm>
          <a:prstGeom xmlns:a="http://schemas.openxmlformats.org/drawingml/2006/main" prst="straightConnector1">
            <a:avLst/>
          </a:prstGeom>
          <a:ln xmlns:a="http://schemas.openxmlformats.org/drawingml/2006/main" w="22860">
            <a:solidFill>
              <a:srgbClr val="255E8D"/>
            </a:solidFill>
            <a:prstDash val="solid"/>
            <a:tailEnd type="triangle" w="med" len="med"/>
          </a:ln>
        </p:spPr>
      </p:cxnSp>
      <p:cxnSp>
        <p:nvCxnSpPr>
          <p:cNvPr id="61" name=""/>
          <p:cNvCxnSpPr>
            <a:stCxn xmlns:a="http://schemas.openxmlformats.org/drawingml/2006/main" id="2" idx="3"/>
            <a:endCxn xmlns:a="http://schemas.openxmlformats.org/drawingml/2006/main" id="3" idx="1"/>
          </p:cNvCxnSpPr>
          <p:nvPr/>
        </p:nvCxnSpPr>
        <p:spPr>
          <a:xfrm xmlns:a="http://schemas.openxmlformats.org/drawingml/2006/main">
            <a:off x="7334250" y="904875"/>
            <a:ext cx="952500" cy="0"/>
          </a:xfrm>
          <a:prstGeom xmlns:a="http://schemas.openxmlformats.org/drawingml/2006/main" prst="straightConnector1">
            <a:avLst/>
          </a:prstGeom>
          <a:ln xmlns:a="http://schemas.openxmlformats.org/drawingml/2006/main" w="22860">
            <a:solidFill>
              <a:srgbClr val="255E8D"/>
            </a:solidFill>
            <a:prstDash val="solid"/>
            <a:tailEnd type="triangle" w="med" len="med"/>
          </a:ln>
        </p:spPr>
      </p:cxnSp>
      <p:sp>
        <p:nvSpPr>
          <p:cNvPr id="6" name="Finite calibration pool">
            <a:extLst xmlns:a="http://schemas.openxmlformats.org/drawingml/2006/main">
              <a:ext uri="{FF2B5EF4-FFF2-40B4-BE49-F238E27FC236}">
                <a16:creationId xmlns:a16="http://schemas.microsoft.com/office/drawing/2014/main" id="{25EC6ADB-8C44-4F02-8AB0-95947A5ED49C}"/>
              </a:ext>
            </a:extLst>
          </p:cNvPr>
          <p:cNvSpPr>
            <a:spLocks xmlns:a="http://schemas.openxmlformats.org/drawingml/2006/main" noGrp="1"/>
          </p:cNvSpPr>
          <p:nvPr/>
        </p:nvSpPr>
        <p:spPr>
          <a:xfrm xmlns:a="http://schemas.openxmlformats.org/drawingml/2006/main">
            <a:off x="381000" y="2667000"/>
            <a:ext cx="3333750" cy="1619250"/>
          </a:xfrm>
          <a:prstGeom xmlns:a="http://schemas.openxmlformats.org/drawingml/2006/main" prst="rect">
            <a:avLst/>
          </a:prstGeom>
          <a:solidFill xmlns:a="http://schemas.openxmlformats.org/drawingml/2006/main">
            <a:srgbClr val="FBF5E9"/>
          </a:solidFill>
          <a:ln xmlns:a="http://schemas.openxmlformats.org/drawingml/2006/main" w="19050">
            <a:solidFill>
              <a:srgbClr val="8D580C"/>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75">
                <a:solidFill>
                  <a:srgbClr val="1B2D3B"/>
                </a:solidFill>
                <a:latin typeface="Arial"/>
                <a:ea typeface="Arial"/>
                <a:cs typeface="Arial"/>
              </a:defRPr>
            </a:pPr>
            <a:r>
              <a:rPr sz="2175">
                <a:solidFill>
                  <a:srgbClr val="1B2D3B"/>
                </a:solidFill>
                <a:latin typeface="Arial"/>
                <a:ea typeface="Arial"/>
                <a:cs typeface="Arial"/>
              </a:rPr>
              <a:t>Fixed pool: N windows</a:t>
            </a:r>
          </a:p>
          <a:p xmlns:a="http://schemas.openxmlformats.org/drawingml/2006/main">
            <a:pPr algn="ctr">
              <a:defRPr sz="2175">
                <a:solidFill>
                  <a:srgbClr val="1B2D3B"/>
                </a:solidFill>
                <a:latin typeface="Arial"/>
                <a:ea typeface="Arial"/>
                <a:cs typeface="Arial"/>
              </a:defRPr>
            </a:pPr>
            <a:r>
              <a:rPr sz="2175">
                <a:solidFill>
                  <a:srgbClr val="1B2D3B"/>
                </a:solidFill>
                <a:latin typeface="Arial"/>
                <a:ea typeface="Arial"/>
                <a:cs typeface="Arial"/>
              </a:rPr>
              <a:t>Hidden labels</a:t>
            </a:r>
          </a:p>
          <a:p xmlns:a="http://schemas.openxmlformats.org/drawingml/2006/main">
            <a:pPr algn="ctr">
              <a:defRPr sz="2175">
                <a:solidFill>
                  <a:srgbClr val="1B2D3B"/>
                </a:solidFill>
                <a:latin typeface="Arial"/>
                <a:ea typeface="Arial"/>
                <a:cs typeface="Arial"/>
              </a:defRPr>
            </a:pPr>
            <a:r>
              <a:rPr sz="2175">
                <a:solidFill>
                  <a:srgbClr val="1B2D3B"/>
                </a:solidFill>
                <a:latin typeface="Arial"/>
                <a:ea typeface="Arial"/>
                <a:cs typeface="Arial"/>
              </a:rPr>
              <a:t>Uniform query order</a:t>
            </a:r>
          </a:p>
        </p:txBody>
      </p:sp>
      <p:sp>
        <p:nvSpPr>
          <p:cNvPr id="7" name="Query next labels">
            <a:extLst xmlns:a="http://schemas.openxmlformats.org/drawingml/2006/main">
              <a:ext uri="{FF2B5EF4-FFF2-40B4-BE49-F238E27FC236}">
                <a16:creationId xmlns:a16="http://schemas.microsoft.com/office/drawing/2014/main" id="{8B67F42D-9E42-4FC0-815C-64ACF36A3182}"/>
              </a:ext>
            </a:extLst>
          </p:cNvPr>
          <p:cNvSpPr>
            <a:spLocks xmlns:a="http://schemas.openxmlformats.org/drawingml/2006/main" noGrp="1"/>
          </p:cNvSpPr>
          <p:nvPr/>
        </p:nvSpPr>
        <p:spPr>
          <a:xfrm xmlns:a="http://schemas.openxmlformats.org/drawingml/2006/main">
            <a:off x="4476750" y="2667000"/>
            <a:ext cx="2857500" cy="1619250"/>
          </a:xfrm>
          <a:prstGeom xmlns:a="http://schemas.openxmlformats.org/drawingml/2006/main" prst="rect">
            <a:avLst/>
          </a:prstGeom>
          <a:solidFill xmlns:a="http://schemas.openxmlformats.org/drawingml/2006/main">
            <a:srgbClr val="FBF5E9"/>
          </a:solidFill>
          <a:ln xmlns:a="http://schemas.openxmlformats.org/drawingml/2006/main" w="19050">
            <a:solidFill>
              <a:srgbClr val="8D580C"/>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75">
                <a:solidFill>
                  <a:srgbClr val="1B2D3B"/>
                </a:solidFill>
                <a:latin typeface="Arial"/>
                <a:ea typeface="Arial"/>
                <a:cs typeface="Arial"/>
              </a:defRPr>
            </a:pPr>
            <a:r>
              <a:rPr sz="2175">
                <a:solidFill>
                  <a:srgbClr val="1B2D3B"/>
                </a:solidFill>
                <a:latin typeface="Arial"/>
                <a:ea typeface="Arial"/>
                <a:cs typeface="Arial"/>
              </a:rPr>
              <a:t>Query 20 labels</a:t>
            </a:r>
          </a:p>
          <a:p xmlns:a="http://schemas.openxmlformats.org/drawingml/2006/main">
            <a:pPr algn="ctr">
              <a:defRPr sz="2175">
                <a:solidFill>
                  <a:srgbClr val="1B2D3B"/>
                </a:solidFill>
                <a:latin typeface="Arial"/>
                <a:ea typeface="Arial"/>
                <a:cs typeface="Arial"/>
              </a:defRPr>
            </a:pPr>
            <a:r>
              <a:rPr sz="2175">
                <a:solidFill>
                  <a:srgbClr val="1B2D3B"/>
                </a:solidFill>
                <a:latin typeface="Arial"/>
                <a:ea typeface="Arial"/>
                <a:cs typeface="Arial"/>
              </a:rPr>
              <a:t>True-label scores</a:t>
            </a:r>
          </a:p>
          <a:p xmlns:a="http://schemas.openxmlformats.org/drawingml/2006/main">
            <a:pPr algn="ctr">
              <a:defRPr sz="2175">
                <a:solidFill>
                  <a:srgbClr val="1B2D3B"/>
                </a:solidFill>
                <a:latin typeface="Arial"/>
                <a:ea typeface="Arial"/>
                <a:cs typeface="Arial"/>
              </a:defRPr>
            </a:pPr>
            <a:r>
              <a:rPr sz="2175">
                <a:solidFill>
                  <a:srgbClr val="1B2D3B"/>
                </a:solidFill>
                <a:latin typeface="Arial"/>
                <a:ea typeface="Arial"/>
                <a:cs typeface="Arial"/>
              </a:rPr>
              <a:t>Sort observed prefix</a:t>
            </a:r>
          </a:p>
        </p:txBody>
      </p:sp>
      <p:sp>
        <p:nvSpPr>
          <p:cNvPr id="8" name="Quantile interval">
            <a:extLst xmlns:a="http://schemas.openxmlformats.org/drawingml/2006/main">
              <a:ext uri="{FF2B5EF4-FFF2-40B4-BE49-F238E27FC236}">
                <a16:creationId xmlns:a16="http://schemas.microsoft.com/office/drawing/2014/main" id="{CA412845-2E88-4D85-8E7E-C8B48A201323}"/>
              </a:ext>
            </a:extLst>
          </p:cNvPr>
          <p:cNvSpPr>
            <a:spLocks xmlns:a="http://schemas.openxmlformats.org/drawingml/2006/main" noGrp="1"/>
          </p:cNvSpPr>
          <p:nvPr/>
        </p:nvSpPr>
        <p:spPr>
          <a:xfrm xmlns:a="http://schemas.openxmlformats.org/drawingml/2006/main">
            <a:off x="8286750" y="2667000"/>
            <a:ext cx="3048000" cy="1619250"/>
          </a:xfrm>
          <a:prstGeom xmlns:a="http://schemas.openxmlformats.org/drawingml/2006/main" prst="rect">
            <a:avLst/>
          </a:prstGeom>
          <a:solidFill xmlns:a="http://schemas.openxmlformats.org/drawingml/2006/main">
            <a:srgbClr val="EDF6F3"/>
          </a:solidFill>
          <a:ln xmlns:a="http://schemas.openxmlformats.org/drawingml/2006/main" w="19050">
            <a:solidFill>
              <a:srgbClr val="13756C"/>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75">
                <a:solidFill>
                  <a:srgbClr val="1B2D3B"/>
                </a:solidFill>
                <a:latin typeface="Arial"/>
                <a:ea typeface="Arial"/>
                <a:cs typeface="Arial"/>
              </a:defRPr>
            </a:pPr>
            <a:r>
              <a:rPr sz="2175">
                <a:solidFill>
                  <a:srgbClr val="1B2D3B"/>
                </a:solidFill>
                <a:latin typeface="Arial"/>
                <a:ea typeface="Arial"/>
                <a:cs typeface="Arial"/>
              </a:rPr>
              <a:t>Update quantile bracket</a:t>
            </a:r>
          </a:p>
          <a:p xmlns:a="http://schemas.openxmlformats.org/drawingml/2006/main">
            <a:pPr algn="ctr">
              <a:defRPr sz="2175">
                <a:solidFill>
                  <a:srgbClr val="1B2D3B"/>
                </a:solidFill>
                <a:latin typeface="Arial"/>
                <a:ea typeface="Arial"/>
                <a:cs typeface="Arial"/>
              </a:defRPr>
            </a:pPr>
            <a:r>
              <a:rPr sz="2175">
                <a:solidFill>
                  <a:srgbClr val="1B2D3B"/>
                </a:solidFill>
                <a:latin typeface="Arial"/>
                <a:ea typeface="Arial"/>
                <a:cs typeface="Arial"/>
              </a:rPr>
              <a:t>Running intersection</a:t>
            </a:r>
          </a:p>
          <a:p xmlns:a="http://schemas.openxmlformats.org/drawingml/2006/main">
            <a:pPr algn="ctr">
              <a:defRPr sz="2175">
                <a:solidFill>
                  <a:srgbClr val="1B2D3B"/>
                </a:solidFill>
                <a:latin typeface="Arial"/>
                <a:ea typeface="Arial"/>
                <a:cs typeface="Arial"/>
              </a:defRPr>
            </a:pPr>
            <a:r>
              <a:rPr sz="2175">
                <a:solidFill>
                  <a:srgbClr val="1B2D3B"/>
                </a:solidFill>
                <a:latin typeface="Arial"/>
                <a:ea typeface="Arial"/>
                <a:cs typeface="Arial"/>
              </a:rPr>
              <a:t>Bounds L and U</a:t>
            </a:r>
          </a:p>
        </p:txBody>
      </p:sp>
      <p:sp>
        <p:nvSpPr>
          <p:cNvPr id="9" name="Return prediction sets">
            <a:extLst xmlns:a="http://schemas.openxmlformats.org/drawingml/2006/main">
              <a:ext uri="{FF2B5EF4-FFF2-40B4-BE49-F238E27FC236}">
                <a16:creationId xmlns:a16="http://schemas.microsoft.com/office/drawing/2014/main" id="{6D560A88-BB0E-4D80-AECA-CAF4EE8BE302}"/>
              </a:ext>
            </a:extLst>
          </p:cNvPr>
          <p:cNvSpPr>
            <a:spLocks xmlns:a="http://schemas.openxmlformats.org/drawingml/2006/main" noGrp="1"/>
          </p:cNvSpPr>
          <p:nvPr/>
        </p:nvSpPr>
        <p:spPr>
          <a:xfrm xmlns:a="http://schemas.openxmlformats.org/drawingml/2006/main">
            <a:off x="12096750" y="2667000"/>
            <a:ext cx="2762250" cy="1619250"/>
          </a:xfrm>
          <a:prstGeom xmlns:a="http://schemas.openxmlformats.org/drawingml/2006/main" prst="rect">
            <a:avLst/>
          </a:prstGeom>
          <a:solidFill xmlns:a="http://schemas.openxmlformats.org/drawingml/2006/main">
            <a:srgbClr val="EDF6F3"/>
          </a:solidFill>
          <a:ln xmlns:a="http://schemas.openxmlformats.org/drawingml/2006/main" w="19050">
            <a:solidFill>
              <a:srgbClr val="13756C"/>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325">
                <a:solidFill>
                  <a:srgbClr val="1B2D3B"/>
                </a:solidFill>
                <a:latin typeface="Arial"/>
                <a:ea typeface="Arial"/>
                <a:cs typeface="Arial"/>
              </a:defRPr>
            </a:pPr>
            <a:r>
              <a:rPr sz="2325">
                <a:solidFill>
                  <a:srgbClr val="1B2D3B"/>
                </a:solidFill>
                <a:latin typeface="Arial"/>
                <a:ea typeface="Arial"/>
                <a:cs typeface="Arial"/>
              </a:rPr>
              <a:t>Return C(x; U)</a:t>
            </a:r>
          </a:p>
          <a:p xmlns:a="http://schemas.openxmlformats.org/drawingml/2006/main">
            <a:pPr algn="ctr">
              <a:defRPr sz="2325">
                <a:solidFill>
                  <a:srgbClr val="1B2D3B"/>
                </a:solidFill>
                <a:latin typeface="Arial"/>
                <a:ea typeface="Arial"/>
                <a:cs typeface="Arial"/>
              </a:defRPr>
            </a:pPr>
            <a:r>
              <a:rPr sz="2325">
                <a:solidFill>
                  <a:srgbClr val="1B2D3B"/>
                </a:solidFill>
                <a:latin typeface="Arial"/>
                <a:ea typeface="Arial"/>
                <a:cs typeface="Arial"/>
              </a:rPr>
              <a:t>Stop label queries</a:t>
            </a:r>
          </a:p>
        </p:txBody>
      </p:sp>
      <p:cxnSp>
        <p:nvCxnSpPr>
          <p:cNvPr id="66" name=""/>
          <p:cNvCxnSpPr>
            <a:stCxn xmlns:a="http://schemas.openxmlformats.org/drawingml/2006/main" id="6" idx="3"/>
            <a:endCxn xmlns:a="http://schemas.openxmlformats.org/drawingml/2006/main" id="7" idx="1"/>
          </p:cNvCxnSpPr>
          <p:nvPr/>
        </p:nvCxnSpPr>
        <p:spPr>
          <a:xfrm xmlns:a="http://schemas.openxmlformats.org/drawingml/2006/main">
            <a:off x="3714750" y="3476625"/>
            <a:ext cx="762000" cy="0"/>
          </a:xfrm>
          <a:prstGeom xmlns:a="http://schemas.openxmlformats.org/drawingml/2006/main" prst="straightConnector1">
            <a:avLst/>
          </a:prstGeom>
          <a:ln xmlns:a="http://schemas.openxmlformats.org/drawingml/2006/main" w="22860">
            <a:solidFill>
              <a:srgbClr val="1B2D3B"/>
            </a:solidFill>
            <a:prstDash val="solid"/>
            <a:tailEnd type="triangle" w="med" len="med"/>
          </a:ln>
        </p:spPr>
      </p:cxnSp>
      <p:cxnSp>
        <p:nvCxnSpPr>
          <p:cNvPr id="67" name=""/>
          <p:cNvCxnSpPr>
            <a:stCxn xmlns:a="http://schemas.openxmlformats.org/drawingml/2006/main" id="7" idx="3"/>
            <a:endCxn xmlns:a="http://schemas.openxmlformats.org/drawingml/2006/main" id="8" idx="1"/>
          </p:cNvCxnSpPr>
          <p:nvPr/>
        </p:nvCxnSpPr>
        <p:spPr>
          <a:xfrm xmlns:a="http://schemas.openxmlformats.org/drawingml/2006/main">
            <a:off x="7334250" y="3476625"/>
            <a:ext cx="952500" cy="0"/>
          </a:xfrm>
          <a:prstGeom xmlns:a="http://schemas.openxmlformats.org/drawingml/2006/main" prst="straightConnector1">
            <a:avLst/>
          </a:prstGeom>
          <a:ln xmlns:a="http://schemas.openxmlformats.org/drawingml/2006/main" w="22860">
            <a:solidFill>
              <a:srgbClr val="1B2D3B"/>
            </a:solidFill>
            <a:prstDash val="solid"/>
            <a:tailEnd type="triangle" w="med" len="med"/>
          </a:ln>
        </p:spPr>
      </p:cxnSp>
      <p:sp>
        <p:nvSpPr>
          <p:cNvPr id="12" name="Connector anchor 1">
            <a:extLst xmlns:a="http://schemas.openxmlformats.org/drawingml/2006/main">
              <a:ext uri="{FF2B5EF4-FFF2-40B4-BE49-F238E27FC236}">
                <a16:creationId xmlns:a16="http://schemas.microsoft.com/office/drawing/2014/main" id="{DAF92535-8139-47D2-8C59-272B3D362B6A}"/>
              </a:ext>
            </a:extLst>
          </p:cNvPr>
          <p:cNvSpPr>
            <a:spLocks xmlns:a="http://schemas.openxmlformats.org/drawingml/2006/main" noGrp="1"/>
          </p:cNvSpPr>
          <p:nvPr/>
        </p:nvSpPr>
        <p:spPr>
          <a:xfrm xmlns:a="http://schemas.openxmlformats.org/drawingml/2006/main">
            <a:off x="5895975" y="19431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13" name="Connector anchor 2">
            <a:extLst xmlns:a="http://schemas.openxmlformats.org/drawingml/2006/main">
              <a:ext uri="{FF2B5EF4-FFF2-40B4-BE49-F238E27FC236}">
                <a16:creationId xmlns:a16="http://schemas.microsoft.com/office/drawing/2014/main" id="{5E9F143D-7E5D-4E90-90E2-F89AB73B48FB}"/>
              </a:ext>
            </a:extLst>
          </p:cNvPr>
          <p:cNvSpPr>
            <a:spLocks xmlns:a="http://schemas.openxmlformats.org/drawingml/2006/main" noGrp="1"/>
          </p:cNvSpPr>
          <p:nvPr/>
        </p:nvSpPr>
        <p:spPr>
          <a:xfrm xmlns:a="http://schemas.openxmlformats.org/drawingml/2006/main">
            <a:off x="2038350" y="19431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0" name=""/>
          <p:cNvCxnSpPr>
            <a:stCxn xmlns:a="http://schemas.openxmlformats.org/drawingml/2006/main" id="2" idx="2"/>
            <a:endCxn xmlns:a="http://schemas.openxmlformats.org/drawingml/2006/main" id="12" idx="0"/>
          </p:cNvCxnSpPr>
          <p:nvPr/>
        </p:nvCxnSpPr>
        <p:spPr>
          <a:xfrm xmlns:a="http://schemas.openxmlformats.org/drawingml/2006/main">
            <a:off x="5905500" y="1476375"/>
            <a:ext cx="0" cy="466725"/>
          </a:xfrm>
          <a:prstGeom xmlns:a="http://schemas.openxmlformats.org/drawingml/2006/main" prst="straightConnector1">
            <a:avLst/>
          </a:prstGeom>
          <a:ln xmlns:a="http://schemas.openxmlformats.org/drawingml/2006/main" w="22860">
            <a:solidFill>
              <a:srgbClr val="255E8D"/>
            </a:solidFill>
            <a:prstDash val="dash"/>
            <a:tailEnd type="none" w="med" len="med"/>
          </a:ln>
        </p:spPr>
      </p:cxnSp>
      <p:cxnSp>
        <p:nvCxnSpPr>
          <p:cNvPr id="71" name=""/>
          <p:cNvCxnSpPr>
            <a:stCxn xmlns:a="http://schemas.openxmlformats.org/drawingml/2006/main" id="12" idx="1"/>
            <a:endCxn xmlns:a="http://schemas.openxmlformats.org/drawingml/2006/main" id="13" idx="3"/>
          </p:cNvCxnSpPr>
          <p:nvPr/>
        </p:nvCxnSpPr>
        <p:spPr>
          <a:xfrm xmlns:a="http://schemas.openxmlformats.org/drawingml/2006/main" flipH="1">
            <a:off x="2057400" y="1952625"/>
            <a:ext cx="3838575" cy="0"/>
          </a:xfrm>
          <a:prstGeom xmlns:a="http://schemas.openxmlformats.org/drawingml/2006/main" prst="straightConnector1">
            <a:avLst/>
          </a:prstGeom>
          <a:ln xmlns:a="http://schemas.openxmlformats.org/drawingml/2006/main" w="22860">
            <a:solidFill>
              <a:srgbClr val="255E8D"/>
            </a:solidFill>
            <a:prstDash val="dash"/>
            <a:tailEnd type="none" w="med" len="med"/>
          </a:ln>
        </p:spPr>
      </p:cxnSp>
      <p:cxnSp>
        <p:nvCxnSpPr>
          <p:cNvPr id="72" name=""/>
          <p:cNvCxnSpPr>
            <a:stCxn xmlns:a="http://schemas.openxmlformats.org/drawingml/2006/main" id="13" idx="2"/>
            <a:endCxn xmlns:a="http://schemas.openxmlformats.org/drawingml/2006/main" id="6" idx="0"/>
          </p:cNvCxnSpPr>
          <p:nvPr/>
        </p:nvCxnSpPr>
        <p:spPr>
          <a:xfrm xmlns:a="http://schemas.openxmlformats.org/drawingml/2006/main">
            <a:off x="2047875" y="1962150"/>
            <a:ext cx="0" cy="704850"/>
          </a:xfrm>
          <a:prstGeom xmlns:a="http://schemas.openxmlformats.org/drawingml/2006/main" prst="straightConnector1">
            <a:avLst/>
          </a:prstGeom>
          <a:ln xmlns:a="http://schemas.openxmlformats.org/drawingml/2006/main" w="22860">
            <a:solidFill>
              <a:srgbClr val="255E8D"/>
            </a:solidFill>
            <a:prstDash val="dash"/>
            <a:tailEnd type="triangle" w="med" len="med"/>
          </a:ln>
        </p:spPr>
      </p:cxnSp>
      <p:sp>
        <p:nvSpPr>
          <p:cNvPr id="17" name="Offline boundary calibration">
            <a:extLst xmlns:a="http://schemas.openxmlformats.org/drawingml/2006/main">
              <a:ext uri="{FF2B5EF4-FFF2-40B4-BE49-F238E27FC236}">
                <a16:creationId xmlns:a16="http://schemas.microsoft.com/office/drawing/2014/main" id="{4B1BD93C-43E1-46ED-9CB3-06C4037E72F7}"/>
              </a:ext>
            </a:extLst>
          </p:cNvPr>
          <p:cNvSpPr>
            <a:spLocks xmlns:a="http://schemas.openxmlformats.org/drawingml/2006/main" noGrp="1"/>
          </p:cNvSpPr>
          <p:nvPr/>
        </p:nvSpPr>
        <p:spPr>
          <a:xfrm xmlns:a="http://schemas.openxmlformats.org/drawingml/2006/main">
            <a:off x="381000" y="5476875"/>
            <a:ext cx="6762750" cy="1666875"/>
          </a:xfrm>
          <a:prstGeom xmlns:a="http://schemas.openxmlformats.org/drawingml/2006/main" prst="rect">
            <a:avLst/>
          </a:prstGeom>
          <a:solidFill xmlns:a="http://schemas.openxmlformats.org/drawingml/2006/main">
            <a:srgbClr val="EDF6F3"/>
          </a:solidFill>
          <a:ln xmlns:a="http://schemas.openxmlformats.org/drawingml/2006/main" w="19050">
            <a:solidFill>
              <a:srgbClr val="13756C"/>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75">
                <a:solidFill>
                  <a:srgbClr val="1B2D3B"/>
                </a:solidFill>
                <a:latin typeface="Arial"/>
                <a:ea typeface="Arial"/>
                <a:cs typeface="Arial"/>
              </a:defRPr>
            </a:pPr>
            <a:r>
              <a:rPr sz="2175">
                <a:solidFill>
                  <a:srgbClr val="1B2D3B"/>
                </a:solidFill>
                <a:latin typeface="Arial"/>
                <a:ea typeface="Arial"/>
                <a:cs typeface="Arial"/>
              </a:rPr>
              <a:t>Before label queries</a:t>
            </a:r>
          </a:p>
          <a:p xmlns:a="http://schemas.openxmlformats.org/drawingml/2006/main">
            <a:pPr algn="ctr">
              <a:defRPr sz="2175">
                <a:solidFill>
                  <a:srgbClr val="1B2D3B"/>
                </a:solidFill>
                <a:latin typeface="Arial"/>
                <a:ea typeface="Arial"/>
                <a:cs typeface="Arial"/>
              </a:defRPr>
            </a:pPr>
            <a:r>
              <a:rPr sz="2175">
                <a:solidFill>
                  <a:srgbClr val="1B2D3B"/>
                </a:solidFill>
                <a:latin typeface="Arial"/>
                <a:ea typeface="Arial"/>
                <a:cs typeface="Arial"/>
              </a:rPr>
              <a:t>N, k, δ and query checkpoints</a:t>
            </a:r>
          </a:p>
          <a:p xmlns:a="http://schemas.openxmlformats.org/drawingml/2006/main">
            <a:pPr algn="ctr">
              <a:defRPr sz="2175">
                <a:solidFill>
                  <a:srgbClr val="1B2D3B"/>
                </a:solidFill>
                <a:latin typeface="Arial"/>
                <a:ea typeface="Arial"/>
                <a:cs typeface="Arial"/>
              </a:defRPr>
            </a:pPr>
            <a:r>
              <a:rPr sz="2175">
                <a:solidFill>
                  <a:srgbClr val="1B2D3B"/>
                </a:solidFill>
                <a:latin typeface="Arial"/>
                <a:ea typeface="Arial"/>
                <a:cs typeface="Arial"/>
              </a:rPr>
              <a:t>Exact recursion for joint crossing probability</a:t>
            </a:r>
          </a:p>
        </p:txBody>
      </p:sp>
      <p:sp>
        <p:nvSpPr>
          <p:cNvPr id="18" name="Label-free stopping decision">
            <a:extLst xmlns:a="http://schemas.openxmlformats.org/drawingml/2006/main">
              <a:ext uri="{FF2B5EF4-FFF2-40B4-BE49-F238E27FC236}">
                <a16:creationId xmlns:a16="http://schemas.microsoft.com/office/drawing/2014/main" id="{FA2D7B31-7FC8-460D-89E3-6CC4FBEFC754}"/>
              </a:ext>
            </a:extLst>
          </p:cNvPr>
          <p:cNvSpPr>
            <a:spLocks xmlns:a="http://schemas.openxmlformats.org/drawingml/2006/main" noGrp="1"/>
          </p:cNvSpPr>
          <p:nvPr/>
        </p:nvSpPr>
        <p:spPr>
          <a:xfrm xmlns:a="http://schemas.openxmlformats.org/drawingml/2006/main">
            <a:off x="8286750" y="5476875"/>
            <a:ext cx="6572250" cy="1666875"/>
          </a:xfrm>
          <a:prstGeom xmlns:a="http://schemas.openxmlformats.org/drawingml/2006/main" prst="rect">
            <a:avLst/>
          </a:prstGeom>
          <a:solidFill xmlns:a="http://schemas.openxmlformats.org/drawingml/2006/main">
            <a:srgbClr val="EDF6F3"/>
          </a:solidFill>
          <a:ln xmlns:a="http://schemas.openxmlformats.org/drawingml/2006/main" w="19050">
            <a:solidFill>
              <a:srgbClr val="13756C"/>
            </a:solidFill>
          </a:ln>
        </p:spPr>
        <p:txBody>
          <a:bodyPr xmlns:a="http://schemas.openxmlformats.org/drawingml/2006/main" lIns="114300" tIns="76200" rIns="114300" bIns="76200" anchor="ctr">
            <a:noAutofit/>
          </a:bodyPr>
          <a:lstStyle xmlns:a="http://schemas.openxmlformats.org/drawingml/2006/main"/>
          <a:p xmlns:a="http://schemas.openxmlformats.org/drawingml/2006/main">
            <a:pPr algn="ctr">
              <a:defRPr sz="2175">
                <a:solidFill>
                  <a:srgbClr val="1B2D3B"/>
                </a:solidFill>
                <a:latin typeface="Arial"/>
                <a:ea typeface="Arial"/>
                <a:cs typeface="Arial"/>
              </a:defRPr>
            </a:pPr>
            <a:r>
              <a:rPr sz="2175">
                <a:solidFill>
                  <a:srgbClr val="1B2D3B"/>
                </a:solidFill>
                <a:latin typeface="Arial"/>
                <a:ea typeface="Arial"/>
                <a:cs typeface="Arial"/>
              </a:rPr>
              <a:t>Compare sets on monitoring inputs</a:t>
            </a:r>
          </a:p>
          <a:p xmlns:a="http://schemas.openxmlformats.org/drawingml/2006/main">
            <a:pPr algn="ctr">
              <a:defRPr sz="2175">
                <a:solidFill>
                  <a:srgbClr val="1B2D3B"/>
                </a:solidFill>
                <a:latin typeface="Arial"/>
                <a:ea typeface="Arial"/>
                <a:cs typeface="Arial"/>
              </a:defRPr>
            </a:pPr>
            <a:r>
              <a:rPr sz="2175">
                <a:solidFill>
                  <a:srgbClr val="1B2D3B"/>
                </a:solidFill>
                <a:latin typeface="Arial"/>
                <a:ea typeface="Arial"/>
                <a:cs typeface="Arial"/>
              </a:rPr>
              <a:t>Dₜ = meanₓ ( |C(x; U)| − |C(x; L)| )</a:t>
            </a:r>
          </a:p>
          <a:p xmlns:a="http://schemas.openxmlformats.org/drawingml/2006/main">
            <a:pPr algn="ctr">
              <a:defRPr sz="2175">
                <a:solidFill>
                  <a:srgbClr val="1B2D3B"/>
                </a:solidFill>
                <a:latin typeface="Arial"/>
                <a:ea typeface="Arial"/>
                <a:cs typeface="Arial"/>
              </a:defRPr>
            </a:pPr>
            <a:r>
              <a:rPr sz="2175">
                <a:solidFill>
                  <a:srgbClr val="1B2D3B"/>
                </a:solidFill>
                <a:latin typeface="Arial"/>
                <a:ea typeface="Arial"/>
                <a:cs typeface="Arial"/>
              </a:rPr>
              <a:t>Stop if Dₜ ≤ τ; otherwise query again</a:t>
            </a:r>
          </a:p>
        </p:txBody>
      </p:sp>
      <p:cxnSp>
        <p:nvCxnSpPr>
          <p:cNvPr id="75" name=""/>
          <p:cNvCxnSpPr>
            <a:stCxn xmlns:a="http://schemas.openxmlformats.org/drawingml/2006/main" id="6" idx="2"/>
            <a:endCxn xmlns:a="http://schemas.openxmlformats.org/drawingml/2006/main" id="17" idx="0"/>
          </p:cNvCxnSpPr>
          <p:nvPr/>
        </p:nvCxnSpPr>
        <p:spPr>
          <a:xfrm xmlns:a="http://schemas.openxmlformats.org/drawingml/2006/main">
            <a:off x="2047875" y="4286250"/>
            <a:ext cx="1714500" cy="1190625"/>
          </a:xfrm>
          <a:prstGeom xmlns:a="http://schemas.openxmlformats.org/drawingml/2006/main" prst="straightConnector1">
            <a:avLst/>
          </a:prstGeom>
          <a:ln xmlns:a="http://schemas.openxmlformats.org/drawingml/2006/main" w="22860">
            <a:solidFill>
              <a:srgbClr val="8D580C"/>
            </a:solidFill>
            <a:prstDash val="solid"/>
            <a:tailEnd type="triangle" w="med" len="med"/>
          </a:ln>
        </p:spPr>
      </p:cxnSp>
      <p:sp>
        <p:nvSpPr>
          <p:cNvPr id="20" name="Connector anchor 3">
            <a:extLst xmlns:a="http://schemas.openxmlformats.org/drawingml/2006/main">
              <a:ext uri="{FF2B5EF4-FFF2-40B4-BE49-F238E27FC236}">
                <a16:creationId xmlns:a16="http://schemas.microsoft.com/office/drawing/2014/main" id="{261EC351-8176-4AB3-A8DB-D6E141A4D9A9}"/>
              </a:ext>
            </a:extLst>
          </p:cNvPr>
          <p:cNvSpPr>
            <a:spLocks xmlns:a="http://schemas.openxmlformats.org/drawingml/2006/main" noGrp="1"/>
          </p:cNvSpPr>
          <p:nvPr/>
        </p:nvSpPr>
        <p:spPr>
          <a:xfrm xmlns:a="http://schemas.openxmlformats.org/drawingml/2006/main">
            <a:off x="7753350" y="62960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1" name="Connector anchor 4">
            <a:extLst xmlns:a="http://schemas.openxmlformats.org/drawingml/2006/main">
              <a:ext uri="{FF2B5EF4-FFF2-40B4-BE49-F238E27FC236}">
                <a16:creationId xmlns:a16="http://schemas.microsoft.com/office/drawing/2014/main" id="{ECC64DC1-024E-473C-8A4E-7DA3786AAECC}"/>
              </a:ext>
            </a:extLst>
          </p:cNvPr>
          <p:cNvSpPr>
            <a:spLocks xmlns:a="http://schemas.openxmlformats.org/drawingml/2006/main" noGrp="1"/>
          </p:cNvSpPr>
          <p:nvPr/>
        </p:nvSpPr>
        <p:spPr>
          <a:xfrm xmlns:a="http://schemas.openxmlformats.org/drawingml/2006/main">
            <a:off x="7753350" y="2200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2" name="Connector anchor 5">
            <a:extLst xmlns:a="http://schemas.openxmlformats.org/drawingml/2006/main">
              <a:ext uri="{FF2B5EF4-FFF2-40B4-BE49-F238E27FC236}">
                <a16:creationId xmlns:a16="http://schemas.microsoft.com/office/drawing/2014/main" id="{C0438843-8FF7-41CC-8338-2D0E0CB60E35}"/>
              </a:ext>
            </a:extLst>
          </p:cNvPr>
          <p:cNvSpPr>
            <a:spLocks xmlns:a="http://schemas.openxmlformats.org/drawingml/2006/main" noGrp="1"/>
          </p:cNvSpPr>
          <p:nvPr/>
        </p:nvSpPr>
        <p:spPr>
          <a:xfrm xmlns:a="http://schemas.openxmlformats.org/drawingml/2006/main">
            <a:off x="9801225" y="2200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79" name=""/>
          <p:cNvCxnSpPr>
            <a:stCxn xmlns:a="http://schemas.openxmlformats.org/drawingml/2006/main" id="17" idx="3"/>
            <a:endCxn xmlns:a="http://schemas.openxmlformats.org/drawingml/2006/main" id="20" idx="1"/>
          </p:cNvCxnSpPr>
          <p:nvPr/>
        </p:nvCxnSpPr>
        <p:spPr>
          <a:xfrm xmlns:a="http://schemas.openxmlformats.org/drawingml/2006/main" flipV="1">
            <a:off x="7143750" y="6305550"/>
            <a:ext cx="609600" cy="4763"/>
          </a:xfrm>
          <a:prstGeom xmlns:a="http://schemas.openxmlformats.org/drawingml/2006/main" prst="straightConnector1">
            <a:avLst/>
          </a:prstGeom>
          <a:ln xmlns:a="http://schemas.openxmlformats.org/drawingml/2006/main" w="22860">
            <a:solidFill>
              <a:srgbClr val="13756C"/>
            </a:solidFill>
            <a:prstDash val="solid"/>
            <a:tailEnd type="none" w="med" len="med"/>
          </a:ln>
        </p:spPr>
      </p:cxnSp>
      <p:cxnSp>
        <p:nvCxnSpPr>
          <p:cNvPr id="80" name=""/>
          <p:cNvCxnSpPr>
            <a:stCxn xmlns:a="http://schemas.openxmlformats.org/drawingml/2006/main" id="20" idx="0"/>
            <a:endCxn xmlns:a="http://schemas.openxmlformats.org/drawingml/2006/main" id="21" idx="2"/>
          </p:cNvCxnSpPr>
          <p:nvPr/>
        </p:nvCxnSpPr>
        <p:spPr>
          <a:xfrm xmlns:a="http://schemas.openxmlformats.org/drawingml/2006/main" flipV="1">
            <a:off x="7762875" y="2219325"/>
            <a:ext cx="0" cy="4076700"/>
          </a:xfrm>
          <a:prstGeom xmlns:a="http://schemas.openxmlformats.org/drawingml/2006/main" prst="straightConnector1">
            <a:avLst/>
          </a:prstGeom>
          <a:ln xmlns:a="http://schemas.openxmlformats.org/drawingml/2006/main" w="22860">
            <a:solidFill>
              <a:srgbClr val="13756C"/>
            </a:solidFill>
            <a:prstDash val="solid"/>
            <a:tailEnd type="none" w="med" len="med"/>
          </a:ln>
        </p:spPr>
      </p:cxnSp>
      <p:cxnSp>
        <p:nvCxnSpPr>
          <p:cNvPr id="81" name=""/>
          <p:cNvCxnSpPr>
            <a:stCxn xmlns:a="http://schemas.openxmlformats.org/drawingml/2006/main" id="21" idx="3"/>
            <a:endCxn xmlns:a="http://schemas.openxmlformats.org/drawingml/2006/main" id="22" idx="1"/>
          </p:cNvCxnSpPr>
          <p:nvPr/>
        </p:nvCxnSpPr>
        <p:spPr>
          <a:xfrm xmlns:a="http://schemas.openxmlformats.org/drawingml/2006/main">
            <a:off x="7772400" y="2209800"/>
            <a:ext cx="2028825" cy="0"/>
          </a:xfrm>
          <a:prstGeom xmlns:a="http://schemas.openxmlformats.org/drawingml/2006/main" prst="straightConnector1">
            <a:avLst/>
          </a:prstGeom>
          <a:ln xmlns:a="http://schemas.openxmlformats.org/drawingml/2006/main" w="22860">
            <a:solidFill>
              <a:srgbClr val="13756C"/>
            </a:solidFill>
            <a:prstDash val="solid"/>
            <a:tailEnd type="none" w="med" len="med"/>
          </a:ln>
        </p:spPr>
      </p:cxnSp>
      <p:cxnSp>
        <p:nvCxnSpPr>
          <p:cNvPr id="82" name=""/>
          <p:cNvCxnSpPr>
            <a:stCxn xmlns:a="http://schemas.openxmlformats.org/drawingml/2006/main" id="22" idx="2"/>
            <a:endCxn xmlns:a="http://schemas.openxmlformats.org/drawingml/2006/main" id="8" idx="0"/>
          </p:cNvCxnSpPr>
          <p:nvPr/>
        </p:nvCxnSpPr>
        <p:spPr>
          <a:xfrm xmlns:a="http://schemas.openxmlformats.org/drawingml/2006/main">
            <a:off x="9810750" y="2219325"/>
            <a:ext cx="0" cy="447675"/>
          </a:xfrm>
          <a:prstGeom xmlns:a="http://schemas.openxmlformats.org/drawingml/2006/main" prst="straightConnector1">
            <a:avLst/>
          </a:prstGeom>
          <a:ln xmlns:a="http://schemas.openxmlformats.org/drawingml/2006/main" w="22860">
            <a:solidFill>
              <a:srgbClr val="13756C"/>
            </a:solidFill>
            <a:prstDash val="solid"/>
            <a:tailEnd type="triangle" w="med" len="med"/>
          </a:ln>
        </p:spPr>
      </p:cxnSp>
      <p:cxnSp>
        <p:nvCxnSpPr>
          <p:cNvPr id="83" name=""/>
          <p:cNvCxnSpPr>
            <a:stCxn xmlns:a="http://schemas.openxmlformats.org/drawingml/2006/main" id="8" idx="2"/>
            <a:endCxn xmlns:a="http://schemas.openxmlformats.org/drawingml/2006/main" id="18" idx="0"/>
          </p:cNvCxnSpPr>
          <p:nvPr/>
        </p:nvCxnSpPr>
        <p:spPr>
          <a:xfrm xmlns:a="http://schemas.openxmlformats.org/drawingml/2006/main">
            <a:off x="9810750" y="4286250"/>
            <a:ext cx="1762125" cy="1190625"/>
          </a:xfrm>
          <a:prstGeom xmlns:a="http://schemas.openxmlformats.org/drawingml/2006/main" prst="straightConnector1">
            <a:avLst/>
          </a:prstGeom>
          <a:ln xmlns:a="http://schemas.openxmlformats.org/drawingml/2006/main" w="22860">
            <a:solidFill>
              <a:srgbClr val="13756C"/>
            </a:solidFill>
            <a:prstDash val="solid"/>
            <a:tailEnd type="triangle" w="med" len="med"/>
          </a:ln>
        </p:spPr>
      </p:cxnSp>
      <p:sp>
        <p:nvSpPr>
          <p:cNvPr id="28" name="Connector anchor 6">
            <a:extLst xmlns:a="http://schemas.openxmlformats.org/drawingml/2006/main">
              <a:ext uri="{FF2B5EF4-FFF2-40B4-BE49-F238E27FC236}">
                <a16:creationId xmlns:a16="http://schemas.microsoft.com/office/drawing/2014/main" id="{D8500474-9166-4EAC-9D12-7CA6D6CBDA7F}"/>
              </a:ext>
            </a:extLst>
          </p:cNvPr>
          <p:cNvSpPr>
            <a:spLocks xmlns:a="http://schemas.openxmlformats.org/drawingml/2006/main" noGrp="1"/>
          </p:cNvSpPr>
          <p:nvPr/>
        </p:nvSpPr>
        <p:spPr>
          <a:xfrm xmlns:a="http://schemas.openxmlformats.org/drawingml/2006/main">
            <a:off x="15039975" y="8953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29" name="Connector anchor 7">
            <a:extLst xmlns:a="http://schemas.openxmlformats.org/drawingml/2006/main">
              <a:ext uri="{FF2B5EF4-FFF2-40B4-BE49-F238E27FC236}">
                <a16:creationId xmlns:a16="http://schemas.microsoft.com/office/drawing/2014/main" id="{2C051A12-D812-448A-A909-8801CF69C60F}"/>
              </a:ext>
            </a:extLst>
          </p:cNvPr>
          <p:cNvSpPr>
            <a:spLocks xmlns:a="http://schemas.openxmlformats.org/drawingml/2006/main" noGrp="1"/>
          </p:cNvSpPr>
          <p:nvPr/>
        </p:nvSpPr>
        <p:spPr>
          <a:xfrm xmlns:a="http://schemas.openxmlformats.org/drawingml/2006/main">
            <a:off x="15039975" y="52292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0" name="Connector anchor 8">
            <a:extLst xmlns:a="http://schemas.openxmlformats.org/drawingml/2006/main">
              <a:ext uri="{FF2B5EF4-FFF2-40B4-BE49-F238E27FC236}">
                <a16:creationId xmlns:a16="http://schemas.microsoft.com/office/drawing/2014/main" id="{2897371D-0EF7-4347-91DE-E3A2C7B1DA15}"/>
              </a:ext>
            </a:extLst>
          </p:cNvPr>
          <p:cNvSpPr>
            <a:spLocks xmlns:a="http://schemas.openxmlformats.org/drawingml/2006/main" noGrp="1"/>
          </p:cNvSpPr>
          <p:nvPr/>
        </p:nvSpPr>
        <p:spPr>
          <a:xfrm xmlns:a="http://schemas.openxmlformats.org/drawingml/2006/main">
            <a:off x="11563350" y="52292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87" name=""/>
          <p:cNvCxnSpPr>
            <a:stCxn xmlns:a="http://schemas.openxmlformats.org/drawingml/2006/main" id="3" idx="3"/>
            <a:endCxn xmlns:a="http://schemas.openxmlformats.org/drawingml/2006/main" id="28" idx="1"/>
          </p:cNvCxnSpPr>
          <p:nvPr/>
        </p:nvCxnSpPr>
        <p:spPr>
          <a:xfrm xmlns:a="http://schemas.openxmlformats.org/drawingml/2006/main">
            <a:off x="14859000" y="904875"/>
            <a:ext cx="180975" cy="0"/>
          </a:xfrm>
          <a:prstGeom xmlns:a="http://schemas.openxmlformats.org/drawingml/2006/main" prst="straightConnector1">
            <a:avLst/>
          </a:prstGeom>
          <a:ln xmlns:a="http://schemas.openxmlformats.org/drawingml/2006/main" w="22860">
            <a:solidFill>
              <a:srgbClr val="255E8D"/>
            </a:solidFill>
            <a:prstDash val="dash"/>
            <a:tailEnd type="none" w="med" len="med"/>
          </a:ln>
        </p:spPr>
      </p:cxnSp>
      <p:cxnSp>
        <p:nvCxnSpPr>
          <p:cNvPr id="88" name=""/>
          <p:cNvCxnSpPr>
            <a:stCxn xmlns:a="http://schemas.openxmlformats.org/drawingml/2006/main" id="28" idx="2"/>
            <a:endCxn xmlns:a="http://schemas.openxmlformats.org/drawingml/2006/main" id="29" idx="0"/>
          </p:cNvCxnSpPr>
          <p:nvPr/>
        </p:nvCxnSpPr>
        <p:spPr>
          <a:xfrm xmlns:a="http://schemas.openxmlformats.org/drawingml/2006/main">
            <a:off x="15049500" y="914400"/>
            <a:ext cx="0" cy="4314825"/>
          </a:xfrm>
          <a:prstGeom xmlns:a="http://schemas.openxmlformats.org/drawingml/2006/main" prst="straightConnector1">
            <a:avLst/>
          </a:prstGeom>
          <a:ln xmlns:a="http://schemas.openxmlformats.org/drawingml/2006/main" w="22860">
            <a:solidFill>
              <a:srgbClr val="255E8D"/>
            </a:solidFill>
            <a:prstDash val="dash"/>
            <a:tailEnd type="none" w="med" len="med"/>
          </a:ln>
        </p:spPr>
      </p:cxnSp>
      <p:cxnSp>
        <p:nvCxnSpPr>
          <p:cNvPr id="89" name=""/>
          <p:cNvCxnSpPr>
            <a:stCxn xmlns:a="http://schemas.openxmlformats.org/drawingml/2006/main" id="29" idx="1"/>
            <a:endCxn xmlns:a="http://schemas.openxmlformats.org/drawingml/2006/main" id="30" idx="3"/>
          </p:cNvCxnSpPr>
          <p:nvPr/>
        </p:nvCxnSpPr>
        <p:spPr>
          <a:xfrm xmlns:a="http://schemas.openxmlformats.org/drawingml/2006/main" flipH="1">
            <a:off x="11582400" y="5238750"/>
            <a:ext cx="3457575" cy="0"/>
          </a:xfrm>
          <a:prstGeom xmlns:a="http://schemas.openxmlformats.org/drawingml/2006/main" prst="straightConnector1">
            <a:avLst/>
          </a:prstGeom>
          <a:ln xmlns:a="http://schemas.openxmlformats.org/drawingml/2006/main" w="22860">
            <a:solidFill>
              <a:srgbClr val="255E8D"/>
            </a:solidFill>
            <a:prstDash val="dash"/>
            <a:tailEnd type="none" w="med" len="med"/>
          </a:ln>
        </p:spPr>
      </p:cxnSp>
      <p:cxnSp>
        <p:nvCxnSpPr>
          <p:cNvPr id="90" name=""/>
          <p:cNvCxnSpPr>
            <a:stCxn xmlns:a="http://schemas.openxmlformats.org/drawingml/2006/main" id="30" idx="2"/>
            <a:endCxn xmlns:a="http://schemas.openxmlformats.org/drawingml/2006/main" id="18" idx="0"/>
          </p:cNvCxnSpPr>
          <p:nvPr/>
        </p:nvCxnSpPr>
        <p:spPr>
          <a:xfrm xmlns:a="http://schemas.openxmlformats.org/drawingml/2006/main">
            <a:off x="11572875" y="5248275"/>
            <a:ext cx="0" cy="228600"/>
          </a:xfrm>
          <a:prstGeom xmlns:a="http://schemas.openxmlformats.org/drawingml/2006/main" prst="straightConnector1">
            <a:avLst/>
          </a:prstGeom>
          <a:ln xmlns:a="http://schemas.openxmlformats.org/drawingml/2006/main" w="22860">
            <a:solidFill>
              <a:srgbClr val="255E8D"/>
            </a:solidFill>
            <a:prstDash val="dash"/>
            <a:tailEnd type="triangle" w="med" len="med"/>
          </a:ln>
        </p:spPr>
      </p:cxnSp>
      <p:sp>
        <p:nvSpPr>
          <p:cNvPr id="35" name="Connector anchor 9">
            <a:extLst xmlns:a="http://schemas.openxmlformats.org/drawingml/2006/main">
              <a:ext uri="{FF2B5EF4-FFF2-40B4-BE49-F238E27FC236}">
                <a16:creationId xmlns:a16="http://schemas.microsoft.com/office/drawing/2014/main" id="{BFFFA54A-152F-4B3E-878C-BED515C15FDE}"/>
              </a:ext>
            </a:extLst>
          </p:cNvPr>
          <p:cNvSpPr>
            <a:spLocks xmlns:a="http://schemas.openxmlformats.org/drawingml/2006/main" noGrp="1"/>
          </p:cNvSpPr>
          <p:nvPr/>
        </p:nvSpPr>
        <p:spPr>
          <a:xfrm xmlns:a="http://schemas.openxmlformats.org/drawingml/2006/main">
            <a:off x="15135225" y="62960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6" name="Connector anchor 10">
            <a:extLst xmlns:a="http://schemas.openxmlformats.org/drawingml/2006/main">
              <a:ext uri="{FF2B5EF4-FFF2-40B4-BE49-F238E27FC236}">
                <a16:creationId xmlns:a16="http://schemas.microsoft.com/office/drawing/2014/main" id="{93656090-1FFD-40ED-9285-7266A2E93A4D}"/>
              </a:ext>
            </a:extLst>
          </p:cNvPr>
          <p:cNvSpPr>
            <a:spLocks xmlns:a="http://schemas.openxmlformats.org/drawingml/2006/main" noGrp="1"/>
          </p:cNvSpPr>
          <p:nvPr/>
        </p:nvSpPr>
        <p:spPr>
          <a:xfrm xmlns:a="http://schemas.openxmlformats.org/drawingml/2006/main">
            <a:off x="15135225" y="46577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7" name="Connector anchor 11">
            <a:extLst xmlns:a="http://schemas.openxmlformats.org/drawingml/2006/main">
              <a:ext uri="{FF2B5EF4-FFF2-40B4-BE49-F238E27FC236}">
                <a16:creationId xmlns:a16="http://schemas.microsoft.com/office/drawing/2014/main" id="{3109A756-BF14-4FA6-95B3-7523306D4C4B}"/>
              </a:ext>
            </a:extLst>
          </p:cNvPr>
          <p:cNvSpPr>
            <a:spLocks xmlns:a="http://schemas.openxmlformats.org/drawingml/2006/main" noGrp="1"/>
          </p:cNvSpPr>
          <p:nvPr/>
        </p:nvSpPr>
        <p:spPr>
          <a:xfrm xmlns:a="http://schemas.openxmlformats.org/drawingml/2006/main">
            <a:off x="13468350" y="465772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94" name=""/>
          <p:cNvCxnSpPr>
            <a:stCxn xmlns:a="http://schemas.openxmlformats.org/drawingml/2006/main" id="18" idx="3"/>
            <a:endCxn xmlns:a="http://schemas.openxmlformats.org/drawingml/2006/main" id="35" idx="1"/>
          </p:cNvCxnSpPr>
          <p:nvPr/>
        </p:nvCxnSpPr>
        <p:spPr>
          <a:xfrm xmlns:a="http://schemas.openxmlformats.org/drawingml/2006/main" flipV="1">
            <a:off x="14859000" y="6305550"/>
            <a:ext cx="276225" cy="4763"/>
          </a:xfrm>
          <a:prstGeom xmlns:a="http://schemas.openxmlformats.org/drawingml/2006/main" prst="straightConnector1">
            <a:avLst/>
          </a:prstGeom>
          <a:ln xmlns:a="http://schemas.openxmlformats.org/drawingml/2006/main" w="22860">
            <a:solidFill>
              <a:srgbClr val="13756C"/>
            </a:solidFill>
            <a:prstDash val="solid"/>
            <a:tailEnd type="none" w="med" len="med"/>
          </a:ln>
        </p:spPr>
      </p:cxnSp>
      <p:cxnSp>
        <p:nvCxnSpPr>
          <p:cNvPr id="95" name=""/>
          <p:cNvCxnSpPr>
            <a:stCxn xmlns:a="http://schemas.openxmlformats.org/drawingml/2006/main" id="35" idx="0"/>
            <a:endCxn xmlns:a="http://schemas.openxmlformats.org/drawingml/2006/main" id="36" idx="2"/>
          </p:cNvCxnSpPr>
          <p:nvPr/>
        </p:nvCxnSpPr>
        <p:spPr>
          <a:xfrm xmlns:a="http://schemas.openxmlformats.org/drawingml/2006/main" flipV="1">
            <a:off x="15144750" y="4676775"/>
            <a:ext cx="0" cy="1619250"/>
          </a:xfrm>
          <a:prstGeom xmlns:a="http://schemas.openxmlformats.org/drawingml/2006/main" prst="straightConnector1">
            <a:avLst/>
          </a:prstGeom>
          <a:ln xmlns:a="http://schemas.openxmlformats.org/drawingml/2006/main" w="22860">
            <a:solidFill>
              <a:srgbClr val="13756C"/>
            </a:solidFill>
            <a:prstDash val="solid"/>
            <a:tailEnd type="none" w="med" len="med"/>
          </a:ln>
        </p:spPr>
      </p:cxnSp>
      <p:cxnSp>
        <p:nvCxnSpPr>
          <p:cNvPr id="96" name=""/>
          <p:cNvCxnSpPr>
            <a:stCxn xmlns:a="http://schemas.openxmlformats.org/drawingml/2006/main" id="36" idx="1"/>
            <a:endCxn xmlns:a="http://schemas.openxmlformats.org/drawingml/2006/main" id="37" idx="3"/>
          </p:cNvCxnSpPr>
          <p:nvPr/>
        </p:nvCxnSpPr>
        <p:spPr>
          <a:xfrm xmlns:a="http://schemas.openxmlformats.org/drawingml/2006/main" flipH="1">
            <a:off x="13487400" y="4667250"/>
            <a:ext cx="1647825" cy="0"/>
          </a:xfrm>
          <a:prstGeom xmlns:a="http://schemas.openxmlformats.org/drawingml/2006/main" prst="straightConnector1">
            <a:avLst/>
          </a:prstGeom>
          <a:ln xmlns:a="http://schemas.openxmlformats.org/drawingml/2006/main" w="22860">
            <a:solidFill>
              <a:srgbClr val="13756C"/>
            </a:solidFill>
            <a:prstDash val="solid"/>
            <a:tailEnd type="none" w="med" len="med"/>
          </a:ln>
        </p:spPr>
      </p:cxnSp>
      <p:cxnSp>
        <p:nvCxnSpPr>
          <p:cNvPr id="97" name=""/>
          <p:cNvCxnSpPr>
            <a:stCxn xmlns:a="http://schemas.openxmlformats.org/drawingml/2006/main" id="37" idx="0"/>
            <a:endCxn xmlns:a="http://schemas.openxmlformats.org/drawingml/2006/main" id="9" idx="2"/>
          </p:cNvCxnSpPr>
          <p:nvPr/>
        </p:nvCxnSpPr>
        <p:spPr>
          <a:xfrm xmlns:a="http://schemas.openxmlformats.org/drawingml/2006/main" flipV="1">
            <a:off x="13477875" y="4286250"/>
            <a:ext cx="0" cy="371475"/>
          </a:xfrm>
          <a:prstGeom xmlns:a="http://schemas.openxmlformats.org/drawingml/2006/main" prst="straightConnector1">
            <a:avLst/>
          </a:prstGeom>
          <a:ln xmlns:a="http://schemas.openxmlformats.org/drawingml/2006/main" w="22860">
            <a:solidFill>
              <a:srgbClr val="13756C"/>
            </a:solidFill>
            <a:prstDash val="solid"/>
            <a:tailEnd type="triangle" w="med" len="med"/>
          </a:ln>
        </p:spPr>
      </p:cxnSp>
      <p:sp>
        <p:nvSpPr>
          <p:cNvPr id="42" name="Stop decision label">
            <a:extLst xmlns:a="http://schemas.openxmlformats.org/drawingml/2006/main">
              <a:ext uri="{FF2B5EF4-FFF2-40B4-BE49-F238E27FC236}">
                <a16:creationId xmlns:a16="http://schemas.microsoft.com/office/drawing/2014/main" id="{BC9644D2-3401-4772-93AB-4A3EA73E4C5E}"/>
              </a:ext>
            </a:extLst>
          </p:cNvPr>
          <p:cNvSpPr>
            <a:spLocks xmlns:a="http://schemas.openxmlformats.org/drawingml/2006/main" noGrp="1"/>
          </p:cNvSpPr>
          <p:nvPr/>
        </p:nvSpPr>
        <p:spPr>
          <a:xfrm xmlns:a="http://schemas.openxmlformats.org/drawingml/2006/main">
            <a:off x="13620750" y="4210050"/>
            <a:ext cx="857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Autofit/>
          </a:bodyPr>
          <a:lstStyle xmlns:a="http://schemas.openxmlformats.org/drawingml/2006/main"/>
          <a:p xmlns:a="http://schemas.openxmlformats.org/drawingml/2006/main">
            <a:pPr algn="ctr">
              <a:defRPr sz="2100">
                <a:solidFill>
                  <a:srgbClr val="13756C"/>
                </a:solidFill>
                <a:latin typeface="Arial"/>
                <a:ea typeface="Arial"/>
                <a:cs typeface="Arial"/>
              </a:defRPr>
            </a:pPr>
            <a:r>
              <a:rPr sz="2100">
                <a:solidFill>
                  <a:srgbClr val="13756C"/>
                </a:solidFill>
                <a:latin typeface="Arial"/>
                <a:ea typeface="Arial"/>
                <a:cs typeface="Arial"/>
              </a:rPr>
              <a:t>Yes</a:t>
            </a:r>
          </a:p>
        </p:txBody>
      </p:sp>
      <p:sp>
        <p:nvSpPr>
          <p:cNvPr id="43" name="Connector anchor 12">
            <a:extLst xmlns:a="http://schemas.openxmlformats.org/drawingml/2006/main">
              <a:ext uri="{FF2B5EF4-FFF2-40B4-BE49-F238E27FC236}">
                <a16:creationId xmlns:a16="http://schemas.microsoft.com/office/drawing/2014/main" id="{2E1D1C17-3923-4106-9D58-BF5D8324D89C}"/>
              </a:ext>
            </a:extLst>
          </p:cNvPr>
          <p:cNvSpPr>
            <a:spLocks xmlns:a="http://schemas.openxmlformats.org/drawingml/2006/main" noGrp="1"/>
          </p:cNvSpPr>
          <p:nvPr/>
        </p:nvSpPr>
        <p:spPr>
          <a:xfrm xmlns:a="http://schemas.openxmlformats.org/drawingml/2006/main">
            <a:off x="11563350" y="76104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44" name="Connector anchor 13">
            <a:extLst xmlns:a="http://schemas.openxmlformats.org/drawingml/2006/main">
              <a:ext uri="{FF2B5EF4-FFF2-40B4-BE49-F238E27FC236}">
                <a16:creationId xmlns:a16="http://schemas.microsoft.com/office/drawing/2014/main" id="{1255FD16-0D97-4C58-BB1A-9C4D064096A7}"/>
              </a:ext>
            </a:extLst>
          </p:cNvPr>
          <p:cNvSpPr>
            <a:spLocks xmlns:a="http://schemas.openxmlformats.org/drawingml/2006/main" noGrp="1"/>
          </p:cNvSpPr>
          <p:nvPr/>
        </p:nvSpPr>
        <p:spPr>
          <a:xfrm xmlns:a="http://schemas.openxmlformats.org/drawingml/2006/main">
            <a:off x="7515225" y="76104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45" name="Connector anchor 14">
            <a:extLst xmlns:a="http://schemas.openxmlformats.org/drawingml/2006/main">
              <a:ext uri="{FF2B5EF4-FFF2-40B4-BE49-F238E27FC236}">
                <a16:creationId xmlns:a16="http://schemas.microsoft.com/office/drawing/2014/main" id="{AF1F5F0F-DE83-4824-AAD7-0396616F386E}"/>
              </a:ext>
            </a:extLst>
          </p:cNvPr>
          <p:cNvSpPr>
            <a:spLocks xmlns:a="http://schemas.openxmlformats.org/drawingml/2006/main" noGrp="1"/>
          </p:cNvSpPr>
          <p:nvPr/>
        </p:nvSpPr>
        <p:spPr>
          <a:xfrm xmlns:a="http://schemas.openxmlformats.org/drawingml/2006/main">
            <a:off x="7515225" y="4610100"/>
            <a:ext cx="19050" cy="19050"/>
          </a:xfrm>
          <a:prstGeom xmlns:a="http://schemas.openxmlformats.org/drawingml/2006/main" prst="rect">
            <a:avLst/>
          </a:prstGeom>
          <a:noFill xmlns:a="http://schemas.openxmlformats.org/drawingml/2006/main"/>
          <a:ln xmlns:a="http://schemas.openxmlformats.org/drawingml/2006/main" w="0">
            <a:noFill/>
          </a:ln>
        </p:spPr>
      </p:sp>
      <p:sp>
        <p:nvSpPr>
          <p:cNvPr id="46" name="Connector anchor 15">
            <a:extLst xmlns:a="http://schemas.openxmlformats.org/drawingml/2006/main">
              <a:ext uri="{FF2B5EF4-FFF2-40B4-BE49-F238E27FC236}">
                <a16:creationId xmlns:a16="http://schemas.microsoft.com/office/drawing/2014/main" id="{5A06B52F-726B-4278-8AA1-5CD979BE3F3A}"/>
              </a:ext>
            </a:extLst>
          </p:cNvPr>
          <p:cNvSpPr>
            <a:spLocks xmlns:a="http://schemas.openxmlformats.org/drawingml/2006/main" noGrp="1"/>
          </p:cNvSpPr>
          <p:nvPr/>
        </p:nvSpPr>
        <p:spPr>
          <a:xfrm xmlns:a="http://schemas.openxmlformats.org/drawingml/2006/main">
            <a:off x="5895975" y="46101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103" name=""/>
          <p:cNvCxnSpPr>
            <a:stCxn xmlns:a="http://schemas.openxmlformats.org/drawingml/2006/main" id="18" idx="2"/>
            <a:endCxn xmlns:a="http://schemas.openxmlformats.org/drawingml/2006/main" id="43" idx="0"/>
          </p:cNvCxnSpPr>
          <p:nvPr/>
        </p:nvCxnSpPr>
        <p:spPr>
          <a:xfrm xmlns:a="http://schemas.openxmlformats.org/drawingml/2006/main">
            <a:off x="11572875" y="7143750"/>
            <a:ext cx="0" cy="466725"/>
          </a:xfrm>
          <a:prstGeom xmlns:a="http://schemas.openxmlformats.org/drawingml/2006/main" prst="straightConnector1">
            <a:avLst/>
          </a:prstGeom>
          <a:ln xmlns:a="http://schemas.openxmlformats.org/drawingml/2006/main" w="22860">
            <a:solidFill>
              <a:srgbClr val="8D580C"/>
            </a:solidFill>
            <a:prstDash val="solid"/>
            <a:tailEnd type="none" w="med" len="med"/>
          </a:ln>
        </p:spPr>
      </p:cxnSp>
      <p:cxnSp>
        <p:nvCxnSpPr>
          <p:cNvPr id="104" name=""/>
          <p:cNvCxnSpPr>
            <a:stCxn xmlns:a="http://schemas.openxmlformats.org/drawingml/2006/main" id="43" idx="1"/>
            <a:endCxn xmlns:a="http://schemas.openxmlformats.org/drawingml/2006/main" id="44" idx="3"/>
          </p:cNvCxnSpPr>
          <p:nvPr/>
        </p:nvCxnSpPr>
        <p:spPr>
          <a:xfrm xmlns:a="http://schemas.openxmlformats.org/drawingml/2006/main" flipH="1">
            <a:off x="7534275" y="7620000"/>
            <a:ext cx="4029075" cy="0"/>
          </a:xfrm>
          <a:prstGeom xmlns:a="http://schemas.openxmlformats.org/drawingml/2006/main" prst="straightConnector1">
            <a:avLst/>
          </a:prstGeom>
          <a:ln xmlns:a="http://schemas.openxmlformats.org/drawingml/2006/main" w="22860">
            <a:solidFill>
              <a:srgbClr val="8D580C"/>
            </a:solidFill>
            <a:prstDash val="solid"/>
            <a:tailEnd type="none" w="med" len="med"/>
          </a:ln>
        </p:spPr>
      </p:cxnSp>
      <p:cxnSp>
        <p:nvCxnSpPr>
          <p:cNvPr id="105" name=""/>
          <p:cNvCxnSpPr>
            <a:stCxn xmlns:a="http://schemas.openxmlformats.org/drawingml/2006/main" id="44" idx="0"/>
            <a:endCxn xmlns:a="http://schemas.openxmlformats.org/drawingml/2006/main" id="45" idx="2"/>
          </p:cNvCxnSpPr>
          <p:nvPr/>
        </p:nvCxnSpPr>
        <p:spPr>
          <a:xfrm xmlns:a="http://schemas.openxmlformats.org/drawingml/2006/main" flipV="1">
            <a:off x="7524750" y="4629150"/>
            <a:ext cx="0" cy="2981325"/>
          </a:xfrm>
          <a:prstGeom xmlns:a="http://schemas.openxmlformats.org/drawingml/2006/main" prst="straightConnector1">
            <a:avLst/>
          </a:prstGeom>
          <a:ln xmlns:a="http://schemas.openxmlformats.org/drawingml/2006/main" w="22860">
            <a:solidFill>
              <a:srgbClr val="8D580C"/>
            </a:solidFill>
            <a:prstDash val="solid"/>
            <a:tailEnd type="none" w="med" len="med"/>
          </a:ln>
        </p:spPr>
      </p:cxnSp>
      <p:cxnSp>
        <p:nvCxnSpPr>
          <p:cNvPr id="106" name=""/>
          <p:cNvCxnSpPr>
            <a:stCxn xmlns:a="http://schemas.openxmlformats.org/drawingml/2006/main" id="45" idx="1"/>
            <a:endCxn xmlns:a="http://schemas.openxmlformats.org/drawingml/2006/main" id="46" idx="3"/>
          </p:cNvCxnSpPr>
          <p:nvPr/>
        </p:nvCxnSpPr>
        <p:spPr>
          <a:xfrm xmlns:a="http://schemas.openxmlformats.org/drawingml/2006/main" flipH="1">
            <a:off x="5915025" y="4619625"/>
            <a:ext cx="1600200" cy="0"/>
          </a:xfrm>
          <a:prstGeom xmlns:a="http://schemas.openxmlformats.org/drawingml/2006/main" prst="straightConnector1">
            <a:avLst/>
          </a:prstGeom>
          <a:ln xmlns:a="http://schemas.openxmlformats.org/drawingml/2006/main" w="22860">
            <a:solidFill>
              <a:srgbClr val="8D580C"/>
            </a:solidFill>
            <a:prstDash val="solid"/>
            <a:tailEnd type="none" w="med" len="med"/>
          </a:ln>
        </p:spPr>
      </p:cxnSp>
      <p:cxnSp>
        <p:nvCxnSpPr>
          <p:cNvPr id="107" name=""/>
          <p:cNvCxnSpPr>
            <a:stCxn xmlns:a="http://schemas.openxmlformats.org/drawingml/2006/main" id="46" idx="0"/>
            <a:endCxn xmlns:a="http://schemas.openxmlformats.org/drawingml/2006/main" id="7" idx="2"/>
          </p:cNvCxnSpPr>
          <p:nvPr/>
        </p:nvCxnSpPr>
        <p:spPr>
          <a:xfrm xmlns:a="http://schemas.openxmlformats.org/drawingml/2006/main" flipV="1">
            <a:off x="5905500" y="4286250"/>
            <a:ext cx="0" cy="323850"/>
          </a:xfrm>
          <a:prstGeom xmlns:a="http://schemas.openxmlformats.org/drawingml/2006/main" prst="straightConnector1">
            <a:avLst/>
          </a:prstGeom>
          <a:ln xmlns:a="http://schemas.openxmlformats.org/drawingml/2006/main" w="22860">
            <a:solidFill>
              <a:srgbClr val="8D580C"/>
            </a:solidFill>
            <a:prstDash val="solid"/>
            <a:tailEnd type="triangle" w="med" len="med"/>
          </a:ln>
        </p:spPr>
      </p:cxnSp>
      <p:sp>
        <p:nvSpPr>
          <p:cNvPr id="52" name="Continue decision label">
            <a:extLst xmlns:a="http://schemas.openxmlformats.org/drawingml/2006/main">
              <a:ext uri="{FF2B5EF4-FFF2-40B4-BE49-F238E27FC236}">
                <a16:creationId xmlns:a16="http://schemas.microsoft.com/office/drawing/2014/main" id="{F537196C-E4A0-4905-ADD7-D68491EC33AD}"/>
              </a:ext>
            </a:extLst>
          </p:cNvPr>
          <p:cNvSpPr>
            <a:spLocks xmlns:a="http://schemas.openxmlformats.org/drawingml/2006/main" noGrp="1"/>
          </p:cNvSpPr>
          <p:nvPr/>
        </p:nvSpPr>
        <p:spPr>
          <a:xfrm xmlns:a="http://schemas.openxmlformats.org/drawingml/2006/main">
            <a:off x="7477125" y="7629525"/>
            <a:ext cx="4000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Autofit/>
          </a:bodyPr>
          <a:lstStyle xmlns:a="http://schemas.openxmlformats.org/drawingml/2006/main"/>
          <a:p xmlns:a="http://schemas.openxmlformats.org/drawingml/2006/main">
            <a:pPr algn="ctr">
              <a:defRPr sz="2175">
                <a:solidFill>
                  <a:srgbClr val="8D580C"/>
                </a:solidFill>
                <a:latin typeface="Arial"/>
                <a:ea typeface="Arial"/>
                <a:cs typeface="Arial"/>
              </a:defRPr>
            </a:pPr>
            <a:r>
              <a:rPr sz="2175">
                <a:solidFill>
                  <a:srgbClr val="8D580C"/>
                </a:solidFill>
                <a:latin typeface="Arial"/>
                <a:ea typeface="Arial"/>
                <a:cs typeface="Arial"/>
              </a:rPr>
              <a:t>No: next query batch</a:t>
            </a:r>
          </a:p>
        </p:txBody>
      </p:sp>
      <p:sp>
        <p:nvSpPr>
          <p:cNvPr id="53" name="Guarantee scope">
            <a:extLst xmlns:a="http://schemas.openxmlformats.org/drawingml/2006/main">
              <a:ext uri="{FF2B5EF4-FFF2-40B4-BE49-F238E27FC236}">
                <a16:creationId xmlns:a16="http://schemas.microsoft.com/office/drawing/2014/main" id="{47CDB1AD-F8B7-4430-B621-00D1DAF8D903}"/>
              </a:ext>
            </a:extLst>
          </p:cNvPr>
          <p:cNvSpPr>
            <a:spLocks xmlns:a="http://schemas.openxmlformats.org/drawingml/2006/main" noGrp="1"/>
          </p:cNvSpPr>
          <p:nvPr/>
        </p:nvSpPr>
        <p:spPr>
          <a:xfrm xmlns:a="http://schemas.openxmlformats.org/drawingml/2006/main">
            <a:off x="619125" y="8096250"/>
            <a:ext cx="14001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Autofit/>
          </a:bodyPr>
          <a:lstStyle xmlns:a="http://schemas.openxmlformats.org/drawingml/2006/main"/>
          <a:p xmlns:a="http://schemas.openxmlformats.org/drawingml/2006/main">
            <a:pPr algn="ctr">
              <a:defRPr sz="2250">
                <a:solidFill>
                  <a:srgbClr val="1B2D3B"/>
                </a:solidFill>
                <a:latin typeface="Arial"/>
                <a:ea typeface="Arial"/>
                <a:cs typeface="Arial"/>
              </a:defRPr>
            </a:pPr>
            <a:r>
              <a:rPr sz="2250">
                <a:solidFill>
                  <a:srgbClr val="1B2D3B"/>
                </a:solidFill>
                <a:latin typeface="Arial"/>
                <a:ea typeface="Arial"/>
                <a:cs typeface="Arial"/>
              </a:rPr>
              <a:t>With probability ≥ 1 − δ over label-query order:</a:t>
            </a:r>
          </a:p>
          <a:p xmlns:a="http://schemas.openxmlformats.org/drawingml/2006/main">
            <a:pPr algn="ctr">
              <a:defRPr sz="2250">
                <a:solidFill>
                  <a:srgbClr val="1B2D3B"/>
                </a:solidFill>
                <a:latin typeface="Arial"/>
                <a:ea typeface="Arial"/>
                <a:cs typeface="Arial"/>
              </a:defRPr>
            </a:pPr>
            <a:r>
              <a:rPr sz="2250">
                <a:solidFill>
                  <a:srgbClr val="1B2D3B"/>
                </a:solidFill>
                <a:latin typeface="Arial"/>
                <a:ea typeface="Arial"/>
                <a:cs typeface="Arial"/>
              </a:rPr>
              <a:t>C(x; qref) ⊆ C(x; U) for every x; mean extra labels ≤ τ on the monitoring batch</a:t>
            </a:r>
          </a:p>
        </p:txBody>
      </p:sp>
      <p:sp>
        <p:nvSpPr>
          <p:cNvPr id="54" name="Inputs panel">
            <a:extLst xmlns:a="http://schemas.openxmlformats.org/drawingml/2006/main">
              <a:ext uri="{FF2B5EF4-FFF2-40B4-BE49-F238E27FC236}">
                <a16:creationId xmlns:a16="http://schemas.microsoft.com/office/drawing/2014/main" id="{3C24F72E-482C-4375-B0D8-ADC0BD801A69}"/>
              </a:ext>
            </a:extLst>
          </p:cNvPr>
          <p:cNvSpPr>
            <a:spLocks xmlns:a="http://schemas.openxmlformats.org/drawingml/2006/main" noGrp="1"/>
          </p:cNvSpPr>
          <p:nvPr/>
        </p:nvSpPr>
        <p:spPr>
          <a:xfrm xmlns:a="http://schemas.openxmlformats.org/drawingml/2006/main">
            <a:off x="381000" y="0"/>
            <a:ext cx="6953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Autofit/>
          </a:bodyPr>
          <a:lstStyle xmlns:a="http://schemas.openxmlformats.org/drawingml/2006/main"/>
          <a:p xmlns:a="http://schemas.openxmlformats.org/drawingml/2006/main">
            <a:pPr algn="ctr">
              <a:defRPr sz="2100">
                <a:solidFill>
                  <a:srgbClr val="1B2D3B"/>
                </a:solidFill>
                <a:latin typeface="Arial"/>
                <a:ea typeface="Arial"/>
                <a:cs typeface="Arial"/>
              </a:defRPr>
            </a:pPr>
            <a:r>
              <a:rPr sz="2100">
                <a:solidFill>
                  <a:srgbClr val="1B2D3B"/>
                </a:solidFill>
                <a:latin typeface="Arial"/>
                <a:ea typeface="Arial"/>
                <a:cs typeface="Arial"/>
              </a:rPr>
              <a:t>(a) Fixed model and inputs</a:t>
            </a:r>
          </a:p>
        </p:txBody>
      </p:sp>
      <p:sp>
        <p:nvSpPr>
          <p:cNvPr id="55" name="Boundary panel">
            <a:extLst xmlns:a="http://schemas.openxmlformats.org/drawingml/2006/main">
              <a:ext uri="{FF2B5EF4-FFF2-40B4-BE49-F238E27FC236}">
                <a16:creationId xmlns:a16="http://schemas.microsoft.com/office/drawing/2014/main" id="{FF716C46-C87A-4D93-A8BE-F28CFA6DDB4C}"/>
              </a:ext>
            </a:extLst>
          </p:cNvPr>
          <p:cNvSpPr>
            <a:spLocks xmlns:a="http://schemas.openxmlformats.org/drawingml/2006/main" noGrp="1"/>
          </p:cNvSpPr>
          <p:nvPr/>
        </p:nvSpPr>
        <p:spPr>
          <a:xfrm xmlns:a="http://schemas.openxmlformats.org/drawingml/2006/main">
            <a:off x="381000" y="5095875"/>
            <a:ext cx="2857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Autofit/>
          </a:bodyPr>
          <a:lstStyle xmlns:a="http://schemas.openxmlformats.org/drawingml/2006/main"/>
          <a:p xmlns:a="http://schemas.openxmlformats.org/drawingml/2006/main">
            <a:pPr algn="ctr">
              <a:defRPr sz="2100">
                <a:solidFill>
                  <a:srgbClr val="1B2D3B"/>
                </a:solidFill>
                <a:latin typeface="Arial"/>
                <a:ea typeface="Arial"/>
                <a:cs typeface="Arial"/>
              </a:defRPr>
            </a:pPr>
            <a:r>
              <a:rPr sz="2100">
                <a:solidFill>
                  <a:srgbClr val="1B2D3B"/>
                </a:solidFill>
                <a:latin typeface="Arial"/>
                <a:ea typeface="Arial"/>
                <a:cs typeface="Arial"/>
              </a:rPr>
              <a:t>(b) Rank calibration</a:t>
            </a:r>
          </a:p>
        </p:txBody>
      </p:sp>
      <p:sp>
        <p:nvSpPr>
          <p:cNvPr id="56" name="Query panel">
            <a:extLst xmlns:a="http://schemas.openxmlformats.org/drawingml/2006/main">
              <a:ext uri="{FF2B5EF4-FFF2-40B4-BE49-F238E27FC236}">
                <a16:creationId xmlns:a16="http://schemas.microsoft.com/office/drawing/2014/main" id="{7B32B97C-D31B-49AC-9755-703A0F556AC2}"/>
              </a:ext>
            </a:extLst>
          </p:cNvPr>
          <p:cNvSpPr>
            <a:spLocks xmlns:a="http://schemas.openxmlformats.org/drawingml/2006/main" noGrp="1"/>
          </p:cNvSpPr>
          <p:nvPr/>
        </p:nvSpPr>
        <p:spPr>
          <a:xfrm xmlns:a="http://schemas.openxmlformats.org/drawingml/2006/main">
            <a:off x="4476750" y="2286000"/>
            <a:ext cx="3143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19050" tIns="19050" rIns="19050" bIns="19050" anchor="ctr">
            <a:noAutofit/>
          </a:bodyPr>
          <a:lstStyle xmlns:a="http://schemas.openxmlformats.org/drawingml/2006/main"/>
          <a:p xmlns:a="http://schemas.openxmlformats.org/drawingml/2006/main">
            <a:pPr algn="ctr">
              <a:defRPr sz="2100">
                <a:solidFill>
                  <a:srgbClr val="1B2D3B"/>
                </a:solidFill>
                <a:latin typeface="Arial"/>
                <a:ea typeface="Arial"/>
                <a:cs typeface="Arial"/>
              </a:defRPr>
            </a:pPr>
            <a:r>
              <a:rPr sz="2100">
                <a:solidFill>
                  <a:srgbClr val="1B2D3B"/>
                </a:solidFill>
                <a:latin typeface="Arial"/>
                <a:ea typeface="Arial"/>
                <a:cs typeface="Arial"/>
              </a:rPr>
              <a:t>(c) Query and stop</a:t>
            </a:r>
          </a:p>
        </p:txBody>
      </p:sp>
    </p:spTree>
    <p:extLst>
      <p:ext uri="{BB962C8B-B14F-4D97-AF65-F5344CB8AC3E}">
        <p14:creationId xmlns:p14="http://schemas.microsoft.com/office/powerpoint/2010/main" val="102155695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2026-09-15T01:24:51.6110000Z</dcterms:created>
  <dcterms:modified xsi:type="dcterms:W3CDTF">2026-09-15T01:24:51.6110000Z</dcterms:modified>
</coreProperties>
</file>